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23" y="4303776"/>
            <a:ext cx="11049000" cy="5242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282566" y="1996211"/>
            <a:ext cx="3631565" cy="941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8BC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00" b="0" i="0">
                <a:solidFill>
                  <a:srgbClr val="38BC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3023" y="1566672"/>
            <a:ext cx="5236464" cy="4953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2511" y="1566672"/>
            <a:ext cx="5239512" cy="49530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2655" y="2063495"/>
            <a:ext cx="188975" cy="188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61226" y="1976754"/>
            <a:ext cx="4304030" cy="3635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1672" y="182321"/>
            <a:ext cx="11128654" cy="13096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38BCF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370701" y="2271141"/>
            <a:ext cx="5001259" cy="2531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00" b="0" i="0">
                <a:solidFill>
                  <a:srgbClr val="38BCF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1.png"/><Relationship Id="rId10" Type="http://schemas.openxmlformats.org/officeDocument/2006/relationships/image" Target="../media/image24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4166615"/>
            <a:ext cx="4572000" cy="198729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800" spc="-100" dirty="0"/>
              <a:t>🛡️</a:t>
            </a:r>
            <a:r>
              <a:rPr sz="4800" spc="-100" dirty="0" err="1"/>
              <a:t>TruthGuard</a:t>
            </a:r>
            <a:r>
              <a:rPr sz="4800" spc="-140" dirty="0"/>
              <a:t> </a:t>
            </a:r>
            <a:r>
              <a:rPr sz="4800" spc="-25" dirty="0"/>
              <a:t>AI</a:t>
            </a:r>
            <a:endParaRPr sz="4800" dirty="0">
              <a:latin typeface="Leelawadee UI"/>
              <a:cs typeface="Leelawadee UI"/>
            </a:endParaRPr>
          </a:p>
        </p:txBody>
      </p:sp>
      <p:pic>
        <p:nvPicPr>
          <p:cNvPr id="4" name="object 4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5144" y="0"/>
            <a:ext cx="6086856" cy="685799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49604" y="1944021"/>
            <a:ext cx="4239895" cy="91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200"/>
              </a:lnSpc>
              <a:spcBef>
                <a:spcPts val="100"/>
              </a:spcBef>
            </a:pPr>
            <a:r>
              <a:rPr sz="2700" dirty="0">
                <a:solidFill>
                  <a:srgbClr val="38BCF8"/>
                </a:solidFill>
                <a:latin typeface="Arial MT"/>
                <a:cs typeface="Arial MT"/>
              </a:rPr>
              <a:t>Securing</a:t>
            </a:r>
            <a:r>
              <a:rPr sz="2700" spc="-17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38BCF8"/>
                </a:solidFill>
                <a:latin typeface="Arial MT"/>
                <a:cs typeface="Arial MT"/>
              </a:rPr>
              <a:t>Truth</a:t>
            </a:r>
            <a:r>
              <a:rPr sz="2700" spc="-7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38BCF8"/>
                </a:solidFill>
                <a:latin typeface="Arial MT"/>
                <a:cs typeface="Arial MT"/>
              </a:rPr>
              <a:t>in</a:t>
            </a:r>
            <a:r>
              <a:rPr sz="2700" spc="-7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700" dirty="0">
                <a:solidFill>
                  <a:srgbClr val="38BCF8"/>
                </a:solidFill>
                <a:latin typeface="Arial MT"/>
                <a:cs typeface="Arial MT"/>
              </a:rPr>
              <a:t>the</a:t>
            </a:r>
            <a:r>
              <a:rPr sz="2700" spc="-4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700" spc="-10" dirty="0">
                <a:solidFill>
                  <a:srgbClr val="38BCF8"/>
                </a:solidFill>
                <a:latin typeface="Arial MT"/>
                <a:cs typeface="Arial MT"/>
              </a:rPr>
              <a:t>Digital </a:t>
            </a:r>
            <a:r>
              <a:rPr sz="2700" spc="-20" dirty="0">
                <a:solidFill>
                  <a:srgbClr val="38BCF8"/>
                </a:solidFill>
                <a:latin typeface="Arial MT"/>
                <a:cs typeface="Arial MT"/>
              </a:rPr>
              <a:t>Age.</a:t>
            </a:r>
            <a:endParaRPr sz="27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49604" y="3128990"/>
            <a:ext cx="4200525" cy="6350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An</a:t>
            </a:r>
            <a:r>
              <a:rPr sz="1500" spc="-1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advanced</a:t>
            </a:r>
            <a:r>
              <a:rPr sz="1500" spc="-17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AI-powered</a:t>
            </a:r>
            <a:r>
              <a:rPr sz="1500" spc="2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fact-</a:t>
            </a:r>
            <a:r>
              <a:rPr sz="1500" spc="-10" dirty="0">
                <a:solidFill>
                  <a:srgbClr val="93A2B8"/>
                </a:solidFill>
                <a:latin typeface="Arial MT"/>
                <a:cs typeface="Arial MT"/>
              </a:rPr>
              <a:t>checking</a:t>
            </a:r>
            <a:r>
              <a:rPr sz="1500" spc="-8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and</a:t>
            </a:r>
            <a:r>
              <a:rPr sz="1500" spc="-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93A2B8"/>
                </a:solidFill>
                <a:latin typeface="Arial MT"/>
                <a:cs typeface="Arial MT"/>
              </a:rPr>
              <a:t>news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93A2B8"/>
                </a:solidFill>
                <a:latin typeface="Arial MT"/>
                <a:cs typeface="Arial MT"/>
              </a:rPr>
              <a:t>verification</a:t>
            </a:r>
            <a:r>
              <a:rPr sz="1500" spc="-8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3A2B8"/>
                </a:solidFill>
                <a:latin typeface="Arial MT"/>
                <a:cs typeface="Arial MT"/>
              </a:rPr>
              <a:t>ecosystem.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3302" y="4380525"/>
            <a:ext cx="1699895" cy="137985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350" dirty="0">
                <a:solidFill>
                  <a:srgbClr val="93A2B8"/>
                </a:solidFill>
                <a:latin typeface="Arial MT"/>
                <a:cs typeface="Arial MT"/>
              </a:rPr>
              <a:t>PRESENTED</a:t>
            </a:r>
            <a:r>
              <a:rPr sz="1350" spc="-7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93A2B8"/>
                </a:solidFill>
                <a:latin typeface="Arial MT"/>
                <a:cs typeface="Arial MT"/>
              </a:rPr>
              <a:t>BY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50" dirty="0">
                <a:solidFill>
                  <a:srgbClr val="F8F9FB"/>
                </a:solidFill>
                <a:latin typeface="Arial MT"/>
                <a:cs typeface="Arial MT"/>
              </a:rPr>
              <a:t>Dhruv</a:t>
            </a:r>
            <a:r>
              <a:rPr sz="1650" spc="-5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8F9FB"/>
                </a:solidFill>
                <a:latin typeface="Arial MT"/>
                <a:cs typeface="Arial MT"/>
              </a:rPr>
              <a:t>Singh</a:t>
            </a:r>
            <a:r>
              <a:rPr sz="1650" spc="-3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650" spc="-20" dirty="0">
                <a:solidFill>
                  <a:srgbClr val="F8F9FB"/>
                </a:solidFill>
                <a:latin typeface="Arial MT"/>
                <a:cs typeface="Arial MT"/>
              </a:rPr>
              <a:t>Bisht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840"/>
              </a:spcBef>
            </a:pPr>
            <a:r>
              <a:rPr sz="1350" spc="-10" dirty="0">
                <a:solidFill>
                  <a:srgbClr val="93A2B8"/>
                </a:solidFill>
                <a:latin typeface="Arial MT"/>
                <a:cs typeface="Arial MT"/>
              </a:rPr>
              <a:t>ROLL</a:t>
            </a:r>
            <a:r>
              <a:rPr sz="1350" spc="-6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93A2B8"/>
                </a:solidFill>
                <a:latin typeface="Arial MT"/>
                <a:cs typeface="Arial MT"/>
              </a:rPr>
              <a:t>NO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650" spc="-10" dirty="0">
                <a:solidFill>
                  <a:srgbClr val="F8F9FB"/>
                </a:solidFill>
                <a:latin typeface="Arial MT"/>
                <a:cs typeface="Arial MT"/>
              </a:rPr>
              <a:t>2501221530064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800" y="1469212"/>
            <a:ext cx="3945890" cy="3479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100" dirty="0">
                <a:solidFill>
                  <a:srgbClr val="38BCF8"/>
                </a:solidFill>
                <a:latin typeface="Arial MT"/>
                <a:cs typeface="Arial MT"/>
              </a:rPr>
              <a:t>Combating</a:t>
            </a:r>
            <a:r>
              <a:rPr sz="2100" spc="-4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8BCF8"/>
                </a:solidFill>
                <a:latin typeface="Arial MT"/>
                <a:cs typeface="Arial MT"/>
              </a:rPr>
              <a:t>Digital</a:t>
            </a:r>
            <a:r>
              <a:rPr sz="2100" spc="-3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8BCF8"/>
                </a:solidFill>
                <a:latin typeface="Arial MT"/>
                <a:cs typeface="Arial MT"/>
              </a:rPr>
              <a:t>Misinformation</a:t>
            </a:r>
            <a:endParaRPr sz="21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5804" y="2126430"/>
            <a:ext cx="489140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AD4E0"/>
                </a:solidFill>
                <a:latin typeface="Arial"/>
                <a:cs typeface="Arial"/>
              </a:rPr>
              <a:t>Comprehensive</a:t>
            </a:r>
            <a:r>
              <a:rPr sz="1500" b="1" spc="-9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Analysis:</a:t>
            </a:r>
            <a:r>
              <a:rPr sz="1500" b="1" spc="-3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TruthGuard</a:t>
            </a:r>
            <a:r>
              <a:rPr sz="1500" spc="-114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AI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leverages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advanced</a:t>
            </a:r>
            <a:r>
              <a:rPr sz="1500" spc="-8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Machine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Learning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identify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patterns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indicative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fabricated</a:t>
            </a:r>
            <a:r>
              <a:rPr sz="1500" spc="-10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news</a:t>
            </a:r>
            <a:r>
              <a:rPr sz="1500" spc="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content.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2511" y="1490472"/>
            <a:ext cx="5239512" cy="38100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5804" y="3232876"/>
            <a:ext cx="4599940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90"/>
              </a:spcBef>
            </a:pP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Automated</a:t>
            </a:r>
            <a:r>
              <a:rPr sz="1500" b="1" spc="-2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CAD4E0"/>
                </a:solidFill>
                <a:latin typeface="Arial"/>
                <a:cs typeface="Arial"/>
              </a:rPr>
              <a:t>Fact-</a:t>
            </a: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Checking:</a:t>
            </a:r>
            <a:r>
              <a:rPr sz="1500" b="1" spc="-7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platform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cross-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references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claims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against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trusted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sources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dynamically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using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integrated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search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modules.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804" y="4337989"/>
            <a:ext cx="47326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Evidence</a:t>
            </a:r>
            <a:r>
              <a:rPr sz="1500" b="1" spc="-1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CAD4E0"/>
                </a:solidFill>
                <a:latin typeface="Arial"/>
                <a:cs typeface="Arial"/>
              </a:rPr>
              <a:t>Scoring:</a:t>
            </a:r>
            <a:r>
              <a:rPr sz="1500" b="1" spc="-10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Assigns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credibility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scores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 articles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based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on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source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authority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verifiable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evidence.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25804" y="5442552"/>
            <a:ext cx="4899660" cy="63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b="1" spc="-10" dirty="0">
                <a:solidFill>
                  <a:srgbClr val="CAD4E0"/>
                </a:solidFill>
                <a:latin typeface="Arial"/>
                <a:cs typeface="Arial"/>
              </a:rPr>
              <a:t>End-to-</a:t>
            </a: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End</a:t>
            </a:r>
            <a:r>
              <a:rPr sz="1500" b="1" spc="-4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Workflow:</a:t>
            </a:r>
            <a:r>
              <a:rPr sz="1500" b="1" spc="-7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From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raw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text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input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generating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detailed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PDF/CSV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reports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with</a:t>
            </a:r>
            <a:r>
              <a:rPr sz="1500" spc="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automated</a:t>
            </a:r>
            <a:r>
              <a:rPr sz="1500" spc="-9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email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dispatch.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8800" y="2135251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8800" y="3240100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4345940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8800" y="5451449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558800" y="236931"/>
            <a:ext cx="468122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Platform</a:t>
            </a:r>
            <a:r>
              <a:rPr spc="-5" dirty="0"/>
              <a:t> </a:t>
            </a:r>
            <a:r>
              <a:rPr spc="-10" dirty="0"/>
              <a:t>Introduction</a:t>
            </a:r>
          </a:p>
        </p:txBody>
      </p:sp>
      <p:sp>
        <p:nvSpPr>
          <p:cNvPr id="13" name="object 13"/>
          <p:cNvSpPr/>
          <p:nvPr/>
        </p:nvSpPr>
        <p:spPr>
          <a:xfrm>
            <a:off x="573023" y="1091183"/>
            <a:ext cx="11049000" cy="18415"/>
          </a:xfrm>
          <a:custGeom>
            <a:avLst/>
            <a:gdLst/>
            <a:ahLst/>
            <a:cxnLst/>
            <a:rect l="l" t="t" r="r" b="b"/>
            <a:pathLst>
              <a:path w="11049000" h="18415">
                <a:moveTo>
                  <a:pt x="11049000" y="0"/>
                </a:moveTo>
                <a:lnTo>
                  <a:pt x="0" y="0"/>
                </a:lnTo>
                <a:lnTo>
                  <a:pt x="0" y="18287"/>
                </a:lnTo>
                <a:lnTo>
                  <a:pt x="11049000" y="18287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2447544"/>
            <a:ext cx="3489960" cy="3194304"/>
          </a:xfrm>
          <a:prstGeom prst="rect">
            <a:avLst/>
          </a:prstGeom>
        </p:spPr>
      </p:pic>
      <p:pic>
        <p:nvPicPr>
          <p:cNvPr id="3" name="object 3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496" y="2447544"/>
            <a:ext cx="3493007" cy="3194304"/>
          </a:xfrm>
          <a:prstGeom prst="rect">
            <a:avLst/>
          </a:prstGeom>
        </p:spPr>
      </p:pic>
      <p:pic>
        <p:nvPicPr>
          <p:cNvPr id="4" name="object 4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9016" y="2447544"/>
            <a:ext cx="3493008" cy="31943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65632" y="2837688"/>
            <a:ext cx="762000" cy="762000"/>
            <a:chOff x="865632" y="2837688"/>
            <a:chExt cx="762000" cy="762000"/>
          </a:xfrm>
        </p:grpSpPr>
        <p:pic>
          <p:nvPicPr>
            <p:cNvPr id="6" name="object 6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632" y="2837688"/>
              <a:ext cx="762000" cy="762000"/>
            </a:xfrm>
            <a:prstGeom prst="rect">
              <a:avLst/>
            </a:prstGeom>
          </p:spPr>
        </p:pic>
        <p:pic>
          <p:nvPicPr>
            <p:cNvPr id="7" name="object 7" descr="imag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7656" y="3026664"/>
              <a:ext cx="381000" cy="381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4151" y="3810380"/>
            <a:ext cx="24041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BCF8"/>
                </a:solidFill>
                <a:latin typeface="Arial MT"/>
                <a:cs typeface="Arial MT"/>
              </a:rPr>
              <a:t>Machine</a:t>
            </a:r>
            <a:r>
              <a:rPr sz="1800" spc="-1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38BCF8"/>
                </a:solidFill>
                <a:latin typeface="Arial MT"/>
                <a:cs typeface="Arial MT"/>
              </a:rPr>
              <a:t>Learning</a:t>
            </a:r>
            <a:r>
              <a:rPr sz="1800" spc="-3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38BCF8"/>
                </a:solidFill>
                <a:latin typeface="Arial MT"/>
                <a:cs typeface="Arial MT"/>
              </a:rPr>
              <a:t>Core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151" y="4231176"/>
            <a:ext cx="2878455" cy="9950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110"/>
              </a:spcBef>
            </a:pP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Handles</a:t>
            </a:r>
            <a:r>
              <a:rPr sz="12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data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preparation,</a:t>
            </a:r>
            <a:r>
              <a:rPr sz="12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model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training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workflows,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executes</a:t>
            </a:r>
            <a:r>
              <a:rPr sz="12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real-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time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inference</a:t>
            </a:r>
            <a:r>
              <a:rPr sz="12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to predict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the probability</a:t>
            </a:r>
            <a:r>
              <a:rPr sz="12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200" spc="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news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authenticity.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45152" y="2837688"/>
            <a:ext cx="762000" cy="762000"/>
            <a:chOff x="4645152" y="2837688"/>
            <a:chExt cx="762000" cy="762000"/>
          </a:xfrm>
        </p:grpSpPr>
        <p:pic>
          <p:nvPicPr>
            <p:cNvPr id="11" name="object 11" descr="imag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5152" y="2837688"/>
              <a:ext cx="762000" cy="762000"/>
            </a:xfrm>
            <a:prstGeom prst="rect">
              <a:avLst/>
            </a:prstGeom>
          </p:spPr>
        </p:pic>
        <p:pic>
          <p:nvPicPr>
            <p:cNvPr id="12" name="object 12" descr="image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4128" y="3026664"/>
              <a:ext cx="381000" cy="3810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33721" y="3810380"/>
            <a:ext cx="1920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38BCF8"/>
                </a:solidFill>
                <a:latin typeface="Arial MT"/>
                <a:cs typeface="Arial MT"/>
              </a:rPr>
              <a:t>Verification</a:t>
            </a:r>
            <a:r>
              <a:rPr sz="1800" spc="-2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 MT"/>
                <a:cs typeface="Arial MT"/>
              </a:rPr>
              <a:t>Engine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3721" y="4231176"/>
            <a:ext cx="2755265" cy="9950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110"/>
              </a:spcBef>
            </a:pP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Provides</a:t>
            </a:r>
            <a:r>
              <a:rPr sz="12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deep-dive</a:t>
            </a:r>
            <a:r>
              <a:rPr sz="12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fact-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checking</a:t>
            </a:r>
            <a:r>
              <a:rPr sz="12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by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extracting</a:t>
            </a:r>
            <a:r>
              <a:rPr sz="12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claims,</a:t>
            </a:r>
            <a:r>
              <a:rPr sz="12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analyzing</a:t>
            </a:r>
            <a:r>
              <a:rPr sz="1200" spc="-9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source credibility,</a:t>
            </a:r>
            <a:r>
              <a:rPr sz="12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computing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an</a:t>
            </a:r>
            <a:r>
              <a:rPr sz="1200" spc="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aggregated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evidence</a:t>
            </a:r>
            <a:r>
              <a:rPr sz="12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score.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424671" y="2837688"/>
            <a:ext cx="762000" cy="762000"/>
            <a:chOff x="8424671" y="2837688"/>
            <a:chExt cx="762000" cy="762000"/>
          </a:xfrm>
        </p:grpSpPr>
        <p:pic>
          <p:nvPicPr>
            <p:cNvPr id="16" name="object 16" descr="image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24671" y="2837688"/>
              <a:ext cx="762000" cy="762000"/>
            </a:xfrm>
            <a:prstGeom prst="rect">
              <a:avLst/>
            </a:prstGeom>
          </p:spPr>
        </p:pic>
        <p:pic>
          <p:nvPicPr>
            <p:cNvPr id="17" name="object 17" descr="image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89263" y="3026664"/>
              <a:ext cx="429768" cy="381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12860" y="3810380"/>
            <a:ext cx="20370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BCF8"/>
                </a:solidFill>
                <a:latin typeface="Arial MT"/>
                <a:cs typeface="Arial MT"/>
              </a:rPr>
              <a:t>Interactive</a:t>
            </a:r>
            <a:r>
              <a:rPr sz="1800" spc="-4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 MT"/>
                <a:cs typeface="Arial MT"/>
              </a:rPr>
              <a:t>Interface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12860" y="4231176"/>
            <a:ext cx="2897505" cy="753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32600"/>
              </a:lnSpc>
              <a:spcBef>
                <a:spcPts val="105"/>
              </a:spcBef>
            </a:pP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2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multi-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page</a:t>
            </a:r>
            <a:r>
              <a:rPr sz="12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Streamlit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application</a:t>
            </a:r>
            <a:r>
              <a:rPr sz="12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serving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distinct</a:t>
            </a:r>
            <a:r>
              <a:rPr sz="12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modules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for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dashboards,</a:t>
            </a:r>
            <a:r>
              <a:rPr sz="12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analytics,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history</a:t>
            </a:r>
            <a:r>
              <a:rPr sz="12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tracking,</a:t>
            </a:r>
            <a:r>
              <a:rPr sz="12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2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system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configuration.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621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-14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21" name="object 21"/>
          <p:cNvSpPr/>
          <p:nvPr/>
        </p:nvSpPr>
        <p:spPr>
          <a:xfrm>
            <a:off x="573023" y="1399032"/>
            <a:ext cx="11049000" cy="21590"/>
          </a:xfrm>
          <a:custGeom>
            <a:avLst/>
            <a:gdLst/>
            <a:ahLst/>
            <a:cxnLst/>
            <a:rect l="l" t="t" r="r" b="b"/>
            <a:pathLst>
              <a:path w="11049000" h="21590">
                <a:moveTo>
                  <a:pt x="11049000" y="0"/>
                </a:moveTo>
                <a:lnTo>
                  <a:pt x="0" y="0"/>
                </a:lnTo>
                <a:lnTo>
                  <a:pt x="0" y="21336"/>
                </a:lnTo>
                <a:lnTo>
                  <a:pt x="11049000" y="21336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0744" y="2234183"/>
              <a:ext cx="3621024" cy="3617976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7190231" y="5111496"/>
            <a:ext cx="4429125" cy="850900"/>
            <a:chOff x="7190231" y="5111496"/>
            <a:chExt cx="4429125" cy="850900"/>
          </a:xfrm>
        </p:grpSpPr>
        <p:pic>
          <p:nvPicPr>
            <p:cNvPr id="6" name="object 6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90231" y="5111496"/>
              <a:ext cx="4428744" cy="850391"/>
            </a:xfrm>
            <a:prstGeom prst="rect">
              <a:avLst/>
            </a:prstGeom>
          </p:spPr>
        </p:pic>
        <p:pic>
          <p:nvPicPr>
            <p:cNvPr id="7" name="object 7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28559" y="5312664"/>
              <a:ext cx="3776472" cy="39928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Intelligent</a:t>
            </a:r>
            <a:r>
              <a:rPr spc="-50" dirty="0"/>
              <a:t> </a:t>
            </a:r>
            <a:r>
              <a:rPr dirty="0"/>
              <a:t>Prediction</a:t>
            </a:r>
            <a:r>
              <a:rPr spc="-90" dirty="0"/>
              <a:t> </a:t>
            </a:r>
            <a:r>
              <a:rPr spc="-10" dirty="0"/>
              <a:t>Pipeline</a:t>
            </a:r>
          </a:p>
          <a:p>
            <a:pPr marL="12700" marR="164465">
              <a:lnSpc>
                <a:spcPct val="133400"/>
              </a:lnSpc>
              <a:spcBef>
                <a:spcPts val="1590"/>
              </a:spcBef>
            </a:pPr>
            <a:r>
              <a:rPr sz="1500" dirty="0">
                <a:solidFill>
                  <a:srgbClr val="CAD4E0"/>
                </a:solidFill>
              </a:rPr>
              <a:t>The</a:t>
            </a:r>
            <a:r>
              <a:rPr sz="1500" spc="-1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ml/</a:t>
            </a:r>
            <a:r>
              <a:rPr sz="1500" spc="-2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directory</a:t>
            </a:r>
            <a:r>
              <a:rPr sz="1500" spc="-6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forms</a:t>
            </a:r>
            <a:r>
              <a:rPr sz="1500" spc="-7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the</a:t>
            </a:r>
            <a:r>
              <a:rPr sz="1500" spc="-3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predictive</a:t>
            </a:r>
            <a:r>
              <a:rPr sz="1500" spc="-7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backbone</a:t>
            </a:r>
            <a:r>
              <a:rPr sz="1500" spc="-5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of</a:t>
            </a:r>
            <a:r>
              <a:rPr sz="1500" spc="-20" dirty="0">
                <a:solidFill>
                  <a:srgbClr val="CAD4E0"/>
                </a:solidFill>
              </a:rPr>
              <a:t> </a:t>
            </a:r>
            <a:r>
              <a:rPr sz="1500" spc="-25" dirty="0">
                <a:solidFill>
                  <a:srgbClr val="CAD4E0"/>
                </a:solidFill>
              </a:rPr>
              <a:t>the </a:t>
            </a:r>
            <a:r>
              <a:rPr sz="1500" dirty="0">
                <a:solidFill>
                  <a:srgbClr val="CAD4E0"/>
                </a:solidFill>
              </a:rPr>
              <a:t>platform,</a:t>
            </a:r>
            <a:r>
              <a:rPr sz="1500" spc="-8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utilizing</a:t>
            </a:r>
            <a:r>
              <a:rPr sz="1500" spc="3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processed</a:t>
            </a:r>
            <a:r>
              <a:rPr sz="1500" spc="-7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datasets</a:t>
            </a:r>
            <a:r>
              <a:rPr sz="1500" spc="-60" dirty="0">
                <a:solidFill>
                  <a:srgbClr val="CAD4E0"/>
                </a:solidFill>
              </a:rPr>
              <a:t> </a:t>
            </a:r>
            <a:r>
              <a:rPr sz="1500" spc="-10" dirty="0">
                <a:solidFill>
                  <a:srgbClr val="CAD4E0"/>
                </a:solidFill>
              </a:rPr>
              <a:t>(True/Fake)</a:t>
            </a:r>
            <a:r>
              <a:rPr sz="1500" spc="-6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to</a:t>
            </a:r>
            <a:r>
              <a:rPr sz="1500" spc="5" dirty="0">
                <a:solidFill>
                  <a:srgbClr val="CAD4E0"/>
                </a:solidFill>
              </a:rPr>
              <a:t> </a:t>
            </a:r>
            <a:r>
              <a:rPr sz="1500" spc="-10" dirty="0">
                <a:solidFill>
                  <a:srgbClr val="CAD4E0"/>
                </a:solidFill>
              </a:rPr>
              <a:t>train </a:t>
            </a:r>
            <a:r>
              <a:rPr sz="1500" dirty="0">
                <a:solidFill>
                  <a:srgbClr val="CAD4E0"/>
                </a:solidFill>
              </a:rPr>
              <a:t>robust</a:t>
            </a:r>
            <a:r>
              <a:rPr sz="1500" spc="-45" dirty="0">
                <a:solidFill>
                  <a:srgbClr val="CAD4E0"/>
                </a:solidFill>
              </a:rPr>
              <a:t> </a:t>
            </a:r>
            <a:r>
              <a:rPr sz="1500" spc="-10" dirty="0">
                <a:solidFill>
                  <a:srgbClr val="CAD4E0"/>
                </a:solidFill>
              </a:rPr>
              <a:t>models.</a:t>
            </a:r>
            <a:endParaRPr sz="1500"/>
          </a:p>
          <a:p>
            <a:pPr marL="12700" marR="5080">
              <a:lnSpc>
                <a:spcPct val="133400"/>
              </a:lnSpc>
              <a:spcBef>
                <a:spcPts val="1200"/>
              </a:spcBef>
            </a:pPr>
            <a:r>
              <a:rPr sz="1500" dirty="0">
                <a:solidFill>
                  <a:srgbClr val="CAD4E0"/>
                </a:solidFill>
              </a:rPr>
              <a:t>Key</a:t>
            </a:r>
            <a:r>
              <a:rPr sz="1500" spc="-2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scripts</a:t>
            </a:r>
            <a:r>
              <a:rPr sz="1500" spc="-7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include</a:t>
            </a:r>
            <a:r>
              <a:rPr sz="1500" spc="-3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prepare_dataset.py</a:t>
            </a:r>
            <a:r>
              <a:rPr sz="1500" spc="-6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for</a:t>
            </a:r>
            <a:r>
              <a:rPr sz="1500" spc="-3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data</a:t>
            </a:r>
            <a:r>
              <a:rPr sz="1500" spc="-30" dirty="0">
                <a:solidFill>
                  <a:srgbClr val="CAD4E0"/>
                </a:solidFill>
              </a:rPr>
              <a:t> </a:t>
            </a:r>
            <a:r>
              <a:rPr sz="1500" spc="-10" dirty="0">
                <a:solidFill>
                  <a:srgbClr val="CAD4E0"/>
                </a:solidFill>
              </a:rPr>
              <a:t>cleaning, train_model.py</a:t>
            </a:r>
            <a:r>
              <a:rPr sz="1500" spc="-8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for</a:t>
            </a:r>
            <a:r>
              <a:rPr sz="1500" spc="-1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algorithmic</a:t>
            </a:r>
            <a:r>
              <a:rPr sz="1500" spc="-25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learning,</a:t>
            </a:r>
            <a:r>
              <a:rPr sz="1500" spc="-30" dirty="0">
                <a:solidFill>
                  <a:srgbClr val="CAD4E0"/>
                </a:solidFill>
              </a:rPr>
              <a:t> </a:t>
            </a:r>
            <a:r>
              <a:rPr sz="1500" dirty="0">
                <a:solidFill>
                  <a:srgbClr val="CAD4E0"/>
                </a:solidFill>
              </a:rPr>
              <a:t>and</a:t>
            </a:r>
            <a:r>
              <a:rPr sz="1500" spc="5" dirty="0">
                <a:solidFill>
                  <a:srgbClr val="CAD4E0"/>
                </a:solidFill>
              </a:rPr>
              <a:t> </a:t>
            </a:r>
            <a:r>
              <a:rPr sz="1500" spc="-10" dirty="0">
                <a:solidFill>
                  <a:srgbClr val="CAD4E0"/>
                </a:solidFill>
              </a:rPr>
              <a:t>predictor.py</a:t>
            </a:r>
            <a:r>
              <a:rPr sz="1500" spc="-80" dirty="0">
                <a:solidFill>
                  <a:srgbClr val="CAD4E0"/>
                </a:solidFill>
              </a:rPr>
              <a:t> </a:t>
            </a:r>
            <a:r>
              <a:rPr sz="1500" spc="-25" dirty="0">
                <a:solidFill>
                  <a:srgbClr val="CAD4E0"/>
                </a:solidFill>
              </a:rPr>
              <a:t>for </a:t>
            </a:r>
            <a:r>
              <a:rPr sz="1500" dirty="0">
                <a:solidFill>
                  <a:srgbClr val="CAD4E0"/>
                </a:solidFill>
              </a:rPr>
              <a:t>live</a:t>
            </a:r>
            <a:r>
              <a:rPr sz="1500" spc="-30" dirty="0">
                <a:solidFill>
                  <a:srgbClr val="CAD4E0"/>
                </a:solidFill>
              </a:rPr>
              <a:t> </a:t>
            </a:r>
            <a:r>
              <a:rPr sz="1500" spc="-10" dirty="0">
                <a:solidFill>
                  <a:srgbClr val="CAD4E0"/>
                </a:solidFill>
              </a:rPr>
              <a:t>classification.</a:t>
            </a:r>
            <a:endParaRPr sz="1500"/>
          </a:p>
        </p:txBody>
      </p:sp>
      <p:pic>
        <p:nvPicPr>
          <p:cNvPr id="9" name="object 9" descr="im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20367" y="2270760"/>
            <a:ext cx="3541776" cy="3544824"/>
          </a:xfrm>
          <a:prstGeom prst="rect">
            <a:avLst/>
          </a:prstGeom>
        </p:spPr>
      </p:pic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621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Machine</a:t>
            </a:r>
            <a:r>
              <a:rPr spc="-25" dirty="0"/>
              <a:t> </a:t>
            </a:r>
            <a:r>
              <a:rPr dirty="0"/>
              <a:t>Learning</a:t>
            </a:r>
            <a:r>
              <a:rPr spc="-30" dirty="0"/>
              <a:t> </a:t>
            </a:r>
            <a:r>
              <a:rPr spc="-10" dirty="0"/>
              <a:t>Module</a:t>
            </a:r>
          </a:p>
        </p:txBody>
      </p:sp>
      <p:sp>
        <p:nvSpPr>
          <p:cNvPr id="11" name="object 11"/>
          <p:cNvSpPr/>
          <p:nvPr/>
        </p:nvSpPr>
        <p:spPr>
          <a:xfrm>
            <a:off x="573023" y="1399032"/>
            <a:ext cx="11049000" cy="21590"/>
          </a:xfrm>
          <a:custGeom>
            <a:avLst/>
            <a:gdLst/>
            <a:ahLst/>
            <a:cxnLst/>
            <a:rect l="l" t="t" r="r" b="b"/>
            <a:pathLst>
              <a:path w="11049000" h="21590">
                <a:moveTo>
                  <a:pt x="11049000" y="0"/>
                </a:moveTo>
                <a:lnTo>
                  <a:pt x="0" y="0"/>
                </a:lnTo>
                <a:lnTo>
                  <a:pt x="0" y="21336"/>
                </a:lnTo>
                <a:lnTo>
                  <a:pt x="11049000" y="21336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2447544"/>
            <a:ext cx="3489960" cy="3194304"/>
          </a:xfrm>
          <a:prstGeom prst="rect">
            <a:avLst/>
          </a:prstGeom>
        </p:spPr>
      </p:pic>
      <p:pic>
        <p:nvPicPr>
          <p:cNvPr id="3" name="object 3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496" y="2447544"/>
            <a:ext cx="3493007" cy="3194304"/>
          </a:xfrm>
          <a:prstGeom prst="rect">
            <a:avLst/>
          </a:prstGeom>
        </p:spPr>
      </p:pic>
      <p:pic>
        <p:nvPicPr>
          <p:cNvPr id="4" name="object 4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9016" y="2447544"/>
            <a:ext cx="3493008" cy="319430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65632" y="2837688"/>
            <a:ext cx="762000" cy="762000"/>
            <a:chOff x="865632" y="2837688"/>
            <a:chExt cx="762000" cy="762000"/>
          </a:xfrm>
        </p:grpSpPr>
        <p:pic>
          <p:nvPicPr>
            <p:cNvPr id="6" name="object 6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5632" y="2837688"/>
              <a:ext cx="762000" cy="762000"/>
            </a:xfrm>
            <a:prstGeom prst="rect">
              <a:avLst/>
            </a:prstGeom>
          </p:spPr>
        </p:pic>
        <p:pic>
          <p:nvPicPr>
            <p:cNvPr id="7" name="object 7" descr="imag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7656" y="3026664"/>
              <a:ext cx="381000" cy="3810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54151" y="3810380"/>
            <a:ext cx="169163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BCF8"/>
                </a:solidFill>
                <a:latin typeface="Arial MT"/>
                <a:cs typeface="Arial MT"/>
              </a:rPr>
              <a:t>Source</a:t>
            </a:r>
            <a:r>
              <a:rPr sz="1800" spc="-13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 MT"/>
                <a:cs typeface="Arial MT"/>
              </a:rPr>
              <a:t>Analyzer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4151" y="4231176"/>
            <a:ext cx="2673350" cy="9950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110"/>
              </a:spcBef>
            </a:pP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Operates</a:t>
            </a:r>
            <a:r>
              <a:rPr sz="12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via</a:t>
            </a:r>
            <a:r>
              <a:rPr sz="1200" spc="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source_analyzer.py</a:t>
            </a:r>
            <a:r>
              <a:rPr sz="12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to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evaluate</a:t>
            </a:r>
            <a:r>
              <a:rPr sz="12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domain</a:t>
            </a:r>
            <a:r>
              <a:rPr sz="12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origin</a:t>
            </a:r>
            <a:r>
              <a:rPr sz="12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news,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checking</a:t>
            </a:r>
            <a:r>
              <a:rPr sz="12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against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known</a:t>
            </a:r>
            <a:r>
              <a:rPr sz="1200" spc="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reliable</a:t>
            </a:r>
            <a:r>
              <a:rPr sz="12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unreliable</a:t>
            </a:r>
            <a:r>
              <a:rPr sz="12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registries.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45152" y="2837688"/>
            <a:ext cx="762000" cy="762000"/>
            <a:chOff x="4645152" y="2837688"/>
            <a:chExt cx="762000" cy="762000"/>
          </a:xfrm>
        </p:grpSpPr>
        <p:pic>
          <p:nvPicPr>
            <p:cNvPr id="11" name="object 11" descr="imag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5152" y="2837688"/>
              <a:ext cx="762000" cy="762000"/>
            </a:xfrm>
            <a:prstGeom prst="rect">
              <a:avLst/>
            </a:prstGeom>
          </p:spPr>
        </p:pic>
        <p:pic>
          <p:nvPicPr>
            <p:cNvPr id="12" name="object 12" descr="image.png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34128" y="3026664"/>
              <a:ext cx="381000" cy="3810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633721" y="3810380"/>
            <a:ext cx="13900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BCF8"/>
                </a:solidFill>
                <a:latin typeface="Arial MT"/>
                <a:cs typeface="Arial MT"/>
              </a:rPr>
              <a:t>Fact</a:t>
            </a:r>
            <a:r>
              <a:rPr sz="1800" spc="-10" dirty="0">
                <a:solidFill>
                  <a:srgbClr val="38BCF8"/>
                </a:solidFill>
                <a:latin typeface="Arial MT"/>
                <a:cs typeface="Arial MT"/>
              </a:rPr>
              <a:t> Checker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3721" y="4231176"/>
            <a:ext cx="2490470" cy="9950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110"/>
              </a:spcBef>
            </a:pP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Utilizes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 news_search.py</a:t>
            </a:r>
            <a:r>
              <a:rPr sz="1200" spc="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fact_checker.py</a:t>
            </a:r>
            <a:r>
              <a:rPr sz="12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crawl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2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web,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extracting</a:t>
            </a:r>
            <a:r>
              <a:rPr sz="12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contextual</a:t>
            </a:r>
            <a:r>
              <a:rPr sz="12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information</a:t>
            </a:r>
            <a:r>
              <a:rPr sz="12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to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validate</a:t>
            </a:r>
            <a:r>
              <a:rPr sz="1200" spc="-9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core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claims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of an</a:t>
            </a:r>
            <a:r>
              <a:rPr sz="12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article.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424671" y="2837688"/>
            <a:ext cx="762000" cy="762000"/>
            <a:chOff x="8424671" y="2837688"/>
            <a:chExt cx="762000" cy="762000"/>
          </a:xfrm>
        </p:grpSpPr>
        <p:pic>
          <p:nvPicPr>
            <p:cNvPr id="16" name="object 16" descr="image.png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24671" y="2837688"/>
              <a:ext cx="762000" cy="762000"/>
            </a:xfrm>
            <a:prstGeom prst="rect">
              <a:avLst/>
            </a:prstGeom>
          </p:spPr>
        </p:pic>
        <p:pic>
          <p:nvPicPr>
            <p:cNvPr id="17" name="object 17" descr="image.png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64879" y="3026664"/>
              <a:ext cx="478535" cy="3810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412860" y="3810380"/>
            <a:ext cx="1703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8BCF8"/>
                </a:solidFill>
                <a:latin typeface="Arial MT"/>
                <a:cs typeface="Arial MT"/>
              </a:rPr>
              <a:t>Evidence</a:t>
            </a:r>
            <a:r>
              <a:rPr sz="1800" spc="-30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38BCF8"/>
                </a:solidFill>
                <a:latin typeface="Arial MT"/>
                <a:cs typeface="Arial MT"/>
              </a:rPr>
              <a:t>Scorer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12860" y="4231176"/>
            <a:ext cx="2688590" cy="9950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32300"/>
              </a:lnSpc>
              <a:spcBef>
                <a:spcPts val="110"/>
              </a:spcBef>
            </a:pP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2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evidence_scorer.py</a:t>
            </a:r>
            <a:r>
              <a:rPr sz="12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aggregates</a:t>
            </a:r>
            <a:r>
              <a:rPr sz="12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ML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probabilities,</a:t>
            </a:r>
            <a:r>
              <a:rPr sz="12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source</a:t>
            </a:r>
            <a:r>
              <a:rPr sz="12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trust</a:t>
            </a:r>
            <a:r>
              <a:rPr sz="1200" spc="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ratings,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CAD4E0"/>
                </a:solidFill>
                <a:latin typeface="Arial MT"/>
                <a:cs typeface="Arial MT"/>
              </a:rPr>
              <a:t>and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verified</a:t>
            </a:r>
            <a:r>
              <a:rPr sz="1200" spc="-9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facts</a:t>
            </a:r>
            <a:r>
              <a:rPr sz="12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2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output</a:t>
            </a:r>
            <a:r>
              <a:rPr sz="12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2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definitive</a:t>
            </a:r>
            <a:r>
              <a:rPr sz="12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CAD4E0"/>
                </a:solidFill>
                <a:latin typeface="Arial MT"/>
                <a:cs typeface="Arial MT"/>
              </a:rPr>
              <a:t>final </a:t>
            </a:r>
            <a:r>
              <a:rPr sz="1200" dirty="0">
                <a:solidFill>
                  <a:srgbClr val="CAD4E0"/>
                </a:solidFill>
                <a:latin typeface="Arial MT"/>
                <a:cs typeface="Arial MT"/>
              </a:rPr>
              <a:t>credibility</a:t>
            </a:r>
            <a:r>
              <a:rPr sz="12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CAD4E0"/>
                </a:solidFill>
                <a:latin typeface="Arial MT"/>
                <a:cs typeface="Arial MT"/>
              </a:rPr>
              <a:t>score.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621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Verification</a:t>
            </a:r>
            <a:r>
              <a:rPr spc="-145" dirty="0"/>
              <a:t> </a:t>
            </a:r>
            <a:r>
              <a:rPr dirty="0"/>
              <a:t>Engine</a:t>
            </a:r>
            <a:r>
              <a:rPr spc="-155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21" name="object 21"/>
          <p:cNvSpPr/>
          <p:nvPr/>
        </p:nvSpPr>
        <p:spPr>
          <a:xfrm>
            <a:off x="573023" y="1399032"/>
            <a:ext cx="11049000" cy="21590"/>
          </a:xfrm>
          <a:custGeom>
            <a:avLst/>
            <a:gdLst/>
            <a:ahLst/>
            <a:cxnLst/>
            <a:rect l="l" t="t" r="r" b="b"/>
            <a:pathLst>
              <a:path w="11049000" h="21590">
                <a:moveTo>
                  <a:pt x="11049000" y="0"/>
                </a:moveTo>
                <a:lnTo>
                  <a:pt x="0" y="0"/>
                </a:lnTo>
                <a:lnTo>
                  <a:pt x="0" y="21336"/>
                </a:lnTo>
                <a:lnTo>
                  <a:pt x="11049000" y="21336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23" y="2243327"/>
            <a:ext cx="3489960" cy="3505200"/>
          </a:xfrm>
          <a:prstGeom prst="rect">
            <a:avLst/>
          </a:prstGeom>
        </p:spPr>
      </p:pic>
      <p:pic>
        <p:nvPicPr>
          <p:cNvPr id="3" name="object 3" descr="image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9496" y="2292095"/>
            <a:ext cx="3493007" cy="3502152"/>
          </a:xfrm>
          <a:prstGeom prst="rect">
            <a:avLst/>
          </a:prstGeom>
        </p:spPr>
      </p:pic>
      <p:pic>
        <p:nvPicPr>
          <p:cNvPr id="4" name="object 4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129016" y="2292095"/>
            <a:ext cx="3493008" cy="350215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17700" y="4654422"/>
            <a:ext cx="180086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solidFill>
                  <a:srgbClr val="F8F9FB"/>
                </a:solidFill>
                <a:latin typeface="Arial MT"/>
                <a:cs typeface="Arial MT"/>
              </a:rPr>
              <a:t>Database</a:t>
            </a:r>
            <a:r>
              <a:rPr sz="1350" spc="-7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 MT"/>
                <a:cs typeface="Arial MT"/>
              </a:rPr>
              <a:t>Management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6693" y="5038725"/>
            <a:ext cx="2780665" cy="539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Handled</a:t>
            </a:r>
            <a:r>
              <a:rPr sz="1100" spc="7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by</a:t>
            </a:r>
            <a:r>
              <a:rPr sz="1100" spc="4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database.py,</a:t>
            </a:r>
            <a:r>
              <a:rPr sz="1100" spc="6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ensuring</a:t>
            </a:r>
            <a:r>
              <a:rPr sz="1100" spc="5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secure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storage</a:t>
            </a:r>
            <a:r>
              <a:rPr sz="1100" spc="2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of</a:t>
            </a:r>
            <a:r>
              <a:rPr sz="1100" spc="6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scan</a:t>
            </a:r>
            <a:r>
              <a:rPr sz="1100" spc="3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histories,</a:t>
            </a:r>
            <a:r>
              <a:rPr sz="1100" spc="7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user</a:t>
            </a:r>
            <a:r>
              <a:rPr sz="1100" spc="4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settings,</a:t>
            </a:r>
            <a:r>
              <a:rPr sz="1100" spc="6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A2B8"/>
                </a:solidFill>
                <a:latin typeface="Arial MT"/>
                <a:cs typeface="Arial MT"/>
              </a:rPr>
              <a:t>and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known</a:t>
            </a:r>
            <a:r>
              <a:rPr sz="1100" spc="2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sources.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52415" y="4654422"/>
            <a:ext cx="1487805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dirty="0">
                <a:solidFill>
                  <a:srgbClr val="F8F9FB"/>
                </a:solidFill>
                <a:latin typeface="Arial MT"/>
                <a:cs typeface="Arial MT"/>
              </a:rPr>
              <a:t>Exportable</a:t>
            </a:r>
            <a:r>
              <a:rPr sz="1350" spc="-9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 MT"/>
                <a:cs typeface="Arial MT"/>
              </a:rPr>
              <a:t>Reports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78426" y="5038725"/>
            <a:ext cx="2837815" cy="539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635" algn="ctr">
              <a:lnSpc>
                <a:spcPct val="1018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Scripts</a:t>
            </a:r>
            <a:r>
              <a:rPr sz="1100" spc="2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like</a:t>
            </a:r>
            <a:r>
              <a:rPr sz="1100" spc="9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pdf_report.py</a:t>
            </a:r>
            <a:r>
              <a:rPr sz="1100" spc="3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and</a:t>
            </a:r>
            <a:r>
              <a:rPr sz="1100" spc="4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csv_export.py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allow</a:t>
            </a:r>
            <a:r>
              <a:rPr sz="1100" spc="7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users</a:t>
            </a:r>
            <a:r>
              <a:rPr sz="1100" spc="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to</a:t>
            </a:r>
            <a:r>
              <a:rPr sz="1100" spc="4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download</a:t>
            </a:r>
            <a:r>
              <a:rPr sz="1100" spc="9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structured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 evidence logs.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13850" y="4654422"/>
            <a:ext cx="1323340" cy="23050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350" spc="-10" dirty="0">
                <a:solidFill>
                  <a:srgbClr val="F8F9FB"/>
                </a:solidFill>
                <a:latin typeface="Arial MT"/>
                <a:cs typeface="Arial MT"/>
              </a:rPr>
              <a:t>Automated</a:t>
            </a:r>
            <a:r>
              <a:rPr sz="1350" spc="-6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F8F9FB"/>
                </a:solidFill>
                <a:latin typeface="Arial MT"/>
                <a:cs typeface="Arial MT"/>
              </a:rPr>
              <a:t>Alerts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90635" y="5038725"/>
            <a:ext cx="2969895" cy="539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1800"/>
              </a:lnSpc>
              <a:spcBef>
                <a:spcPts val="105"/>
              </a:spcBef>
            </a:pP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The</a:t>
            </a:r>
            <a:r>
              <a:rPr sz="1100" spc="5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email_report.py</a:t>
            </a:r>
            <a:r>
              <a:rPr sz="1100" spc="7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module</a:t>
            </a:r>
            <a:r>
              <a:rPr sz="1100" spc="5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dispatches</a:t>
            </a:r>
            <a:r>
              <a:rPr sz="1100" spc="2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critical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alerts</a:t>
            </a:r>
            <a:r>
              <a:rPr sz="1100" spc="6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and</a:t>
            </a:r>
            <a:r>
              <a:rPr sz="1100" spc="40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verification</a:t>
            </a:r>
            <a:r>
              <a:rPr sz="1100" spc="1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93A2B8"/>
                </a:solidFill>
                <a:latin typeface="Arial MT"/>
                <a:cs typeface="Arial MT"/>
              </a:rPr>
              <a:t>summaries</a:t>
            </a:r>
            <a:r>
              <a:rPr sz="1100" spc="85" dirty="0">
                <a:solidFill>
                  <a:srgbClr val="93A2B8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93A2B8"/>
                </a:solidFill>
                <a:latin typeface="Arial MT"/>
                <a:cs typeface="Arial MT"/>
              </a:rPr>
              <a:t>to </a:t>
            </a:r>
            <a:r>
              <a:rPr sz="1100" spc="-10" dirty="0">
                <a:solidFill>
                  <a:srgbClr val="93A2B8"/>
                </a:solidFill>
                <a:latin typeface="Arial MT"/>
                <a:cs typeface="Arial MT"/>
              </a:rPr>
              <a:t>stakeholders.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84191" y="2481072"/>
            <a:ext cx="3112135" cy="1923414"/>
            <a:chOff x="4584191" y="2481072"/>
            <a:chExt cx="3112135" cy="1923414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93335" y="2490216"/>
              <a:ext cx="3093719" cy="19049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588763" y="2485644"/>
              <a:ext cx="3103245" cy="1914525"/>
            </a:xfrm>
            <a:custGeom>
              <a:avLst/>
              <a:gdLst/>
              <a:ahLst/>
              <a:cxnLst/>
              <a:rect l="l" t="t" r="r" b="b"/>
              <a:pathLst>
                <a:path w="3103245" h="1914525">
                  <a:moveTo>
                    <a:pt x="0" y="1914143"/>
                  </a:moveTo>
                  <a:lnTo>
                    <a:pt x="3102864" y="1914143"/>
                  </a:lnTo>
                  <a:lnTo>
                    <a:pt x="3102864" y="0"/>
                  </a:lnTo>
                  <a:lnTo>
                    <a:pt x="0" y="0"/>
                  </a:lnTo>
                  <a:lnTo>
                    <a:pt x="0" y="1914143"/>
                  </a:lnTo>
                  <a:close/>
                </a:path>
              </a:pathLst>
            </a:custGeom>
            <a:ln w="9144">
              <a:solidFill>
                <a:srgbClr val="001F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 descr="im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27135" y="2490216"/>
            <a:ext cx="3093720" cy="190499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762000" y="2481072"/>
            <a:ext cx="3112135" cy="1923414"/>
            <a:chOff x="762000" y="2481072"/>
            <a:chExt cx="3112135" cy="1923414"/>
          </a:xfrm>
        </p:grpSpPr>
        <p:pic>
          <p:nvPicPr>
            <p:cNvPr id="16" name="object 16" descr="image.png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88719" y="2490216"/>
              <a:ext cx="2258568" cy="192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1144" y="2490216"/>
              <a:ext cx="3093720" cy="19049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66572" y="2485644"/>
              <a:ext cx="3103245" cy="1914525"/>
            </a:xfrm>
            <a:custGeom>
              <a:avLst/>
              <a:gdLst/>
              <a:ahLst/>
              <a:cxnLst/>
              <a:rect l="l" t="t" r="r" b="b"/>
              <a:pathLst>
                <a:path w="3103245" h="1914525">
                  <a:moveTo>
                    <a:pt x="0" y="1914143"/>
                  </a:moveTo>
                  <a:lnTo>
                    <a:pt x="3102864" y="1914143"/>
                  </a:lnTo>
                  <a:lnTo>
                    <a:pt x="3102864" y="0"/>
                  </a:lnTo>
                  <a:lnTo>
                    <a:pt x="0" y="0"/>
                  </a:lnTo>
                  <a:lnTo>
                    <a:pt x="0" y="191414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621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20" dirty="0"/>
              <a:t> </a:t>
            </a:r>
            <a:r>
              <a:rPr dirty="0"/>
              <a:t>Storage</a:t>
            </a:r>
            <a:r>
              <a:rPr spc="-30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Reporting</a:t>
            </a:r>
          </a:p>
        </p:txBody>
      </p:sp>
      <p:sp>
        <p:nvSpPr>
          <p:cNvPr id="20" name="object 20"/>
          <p:cNvSpPr/>
          <p:nvPr/>
        </p:nvSpPr>
        <p:spPr>
          <a:xfrm>
            <a:off x="573023" y="1399032"/>
            <a:ext cx="11049000" cy="21590"/>
          </a:xfrm>
          <a:custGeom>
            <a:avLst/>
            <a:gdLst/>
            <a:ahLst/>
            <a:cxnLst/>
            <a:rect l="l" t="t" r="r" b="b"/>
            <a:pathLst>
              <a:path w="11049000" h="21590">
                <a:moveTo>
                  <a:pt x="11049000" y="0"/>
                </a:moveTo>
                <a:lnTo>
                  <a:pt x="0" y="0"/>
                </a:lnTo>
                <a:lnTo>
                  <a:pt x="0" y="21336"/>
                </a:lnTo>
                <a:lnTo>
                  <a:pt x="11049000" y="21336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71032" y="2014727"/>
            <a:ext cx="5650992" cy="3810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8800" y="1993772"/>
            <a:ext cx="4707890" cy="150241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solidFill>
                  <a:srgbClr val="38BCF8"/>
                </a:solidFill>
                <a:latin typeface="Arial MT"/>
                <a:cs typeface="Arial MT"/>
              </a:rPr>
              <a:t>Streamlit</a:t>
            </a:r>
            <a:r>
              <a:rPr sz="2100" spc="-17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38BCF8"/>
                </a:solidFill>
                <a:latin typeface="Arial MT"/>
                <a:cs typeface="Arial MT"/>
              </a:rPr>
              <a:t>App</a:t>
            </a:r>
            <a:r>
              <a:rPr sz="2100" spc="-12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8BCF8"/>
                </a:solidFill>
                <a:latin typeface="Arial MT"/>
                <a:cs typeface="Arial MT"/>
              </a:rPr>
              <a:t>Architecture</a:t>
            </a: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33400"/>
              </a:lnSpc>
              <a:spcBef>
                <a:spcPts val="1889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frontend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is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powered</a:t>
            </a:r>
            <a:r>
              <a:rPr sz="1500" spc="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by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Streamlit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(app.py),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mapped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through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pages/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directory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deliver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modular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user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experience.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5804" y="3623655"/>
            <a:ext cx="4751705" cy="6350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Analyse</a:t>
            </a:r>
            <a:r>
              <a:rPr sz="1500" b="1" spc="-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News:</a:t>
            </a:r>
            <a:r>
              <a:rPr sz="1500" b="1" spc="-2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primary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interface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for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text/URL</a:t>
            </a:r>
            <a:r>
              <a:rPr sz="1500" spc="-10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input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running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instant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verifications.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5804" y="4424136"/>
            <a:ext cx="4676775" cy="6350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00" b="1" spc="-10" dirty="0">
                <a:solidFill>
                  <a:srgbClr val="CAD4E0"/>
                </a:solidFill>
                <a:latin typeface="Arial"/>
                <a:cs typeface="Arial"/>
              </a:rPr>
              <a:t>Dashboard:</a:t>
            </a:r>
            <a:r>
              <a:rPr sz="1500" b="1" spc="-7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high-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level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view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recent</a:t>
            </a:r>
            <a:r>
              <a:rPr sz="15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activity,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system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status,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quick-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access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tools.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5804" y="5223401"/>
            <a:ext cx="4485005" cy="63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Analytics:</a:t>
            </a:r>
            <a:r>
              <a:rPr sz="1500" b="1" spc="-2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Deep visual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insights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into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processed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news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trends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overall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platform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accuracy.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3023" y="1399032"/>
            <a:ext cx="11619230" cy="4425950"/>
            <a:chOff x="573023" y="1399032"/>
            <a:chExt cx="11619230" cy="4425950"/>
          </a:xfrm>
        </p:grpSpPr>
        <p:pic>
          <p:nvPicPr>
            <p:cNvPr id="8" name="object 8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91656" y="2023872"/>
              <a:ext cx="3541776" cy="19202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73023" y="1399032"/>
              <a:ext cx="11049000" cy="21590"/>
            </a:xfrm>
            <a:custGeom>
              <a:avLst/>
              <a:gdLst/>
              <a:ahLst/>
              <a:cxnLst/>
              <a:rect l="l" t="t" r="r" b="b"/>
              <a:pathLst>
                <a:path w="11049000" h="21590">
                  <a:moveTo>
                    <a:pt x="11049000" y="0"/>
                  </a:moveTo>
                  <a:lnTo>
                    <a:pt x="0" y="0"/>
                  </a:lnTo>
                  <a:lnTo>
                    <a:pt x="0" y="21336"/>
                  </a:lnTo>
                  <a:lnTo>
                    <a:pt x="11049000" y="21336"/>
                  </a:lnTo>
                  <a:lnTo>
                    <a:pt x="11049000" y="0"/>
                  </a:lnTo>
                  <a:close/>
                </a:path>
              </a:pathLst>
            </a:custGeom>
            <a:solidFill>
              <a:srgbClr val="38B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71032" y="1581912"/>
              <a:ext cx="6220968" cy="4242816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58800" y="3630879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8800" y="4431233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58800" y="523227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621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Interactive</a:t>
            </a:r>
            <a:r>
              <a:rPr spc="-25" dirty="0"/>
              <a:t> </a:t>
            </a:r>
            <a:r>
              <a:rPr spc="-10" dirty="0"/>
              <a:t>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E172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 descr="image.png"/>
          <p:cNvGrpSpPr/>
          <p:nvPr/>
        </p:nvGrpSpPr>
        <p:grpSpPr>
          <a:xfrm>
            <a:off x="0" y="886967"/>
            <a:ext cx="12192000" cy="5971540"/>
            <a:chOff x="0" y="886967"/>
            <a:chExt cx="12192000" cy="5971540"/>
          </a:xfrm>
        </p:grpSpPr>
        <p:pic>
          <p:nvPicPr>
            <p:cNvPr id="4" name="object 4" descr="image.png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86967"/>
              <a:ext cx="12192000" cy="597103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71600" y="1103375"/>
              <a:ext cx="9525000" cy="1021080"/>
            </a:xfrm>
            <a:custGeom>
              <a:avLst/>
              <a:gdLst/>
              <a:ahLst/>
              <a:cxnLst/>
              <a:rect l="l" t="t" r="r" b="b"/>
              <a:pathLst>
                <a:path w="9525000" h="1021080">
                  <a:moveTo>
                    <a:pt x="9446006" y="0"/>
                  </a:moveTo>
                  <a:lnTo>
                    <a:pt x="78993" y="0"/>
                  </a:lnTo>
                  <a:lnTo>
                    <a:pt x="48220" y="6199"/>
                  </a:lnTo>
                  <a:lnTo>
                    <a:pt x="23113" y="23113"/>
                  </a:lnTo>
                  <a:lnTo>
                    <a:pt x="6199" y="48220"/>
                  </a:lnTo>
                  <a:lnTo>
                    <a:pt x="0" y="78994"/>
                  </a:lnTo>
                  <a:lnTo>
                    <a:pt x="0" y="942086"/>
                  </a:lnTo>
                  <a:lnTo>
                    <a:pt x="6199" y="972859"/>
                  </a:lnTo>
                  <a:lnTo>
                    <a:pt x="23113" y="997966"/>
                  </a:lnTo>
                  <a:lnTo>
                    <a:pt x="48220" y="1014880"/>
                  </a:lnTo>
                  <a:lnTo>
                    <a:pt x="78993" y="1021079"/>
                  </a:lnTo>
                  <a:lnTo>
                    <a:pt x="9446006" y="1021079"/>
                  </a:lnTo>
                  <a:lnTo>
                    <a:pt x="9476779" y="1014880"/>
                  </a:lnTo>
                  <a:lnTo>
                    <a:pt x="9501886" y="997965"/>
                  </a:lnTo>
                  <a:lnTo>
                    <a:pt x="9518800" y="972859"/>
                  </a:lnTo>
                  <a:lnTo>
                    <a:pt x="9525000" y="942086"/>
                  </a:lnTo>
                  <a:lnTo>
                    <a:pt x="9525000" y="78994"/>
                  </a:lnTo>
                  <a:lnTo>
                    <a:pt x="9518800" y="48220"/>
                  </a:lnTo>
                  <a:lnTo>
                    <a:pt x="9501886" y="23114"/>
                  </a:lnTo>
                  <a:lnTo>
                    <a:pt x="9476779" y="6199"/>
                  </a:lnTo>
                  <a:lnTo>
                    <a:pt x="9446006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339720" y="1310859"/>
            <a:ext cx="8420100" cy="63500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500" spc="-10" dirty="0">
                <a:solidFill>
                  <a:srgbClr val="F8F9FB"/>
                </a:solidFill>
                <a:latin typeface="Arial MT"/>
                <a:cs typeface="Arial MT"/>
              </a:rPr>
              <a:t>Verification</a:t>
            </a:r>
            <a:r>
              <a:rPr sz="1500" spc="-8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History</a:t>
            </a:r>
            <a:r>
              <a:rPr sz="1500" spc="-3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 MT"/>
                <a:cs typeface="Arial MT"/>
              </a:rPr>
              <a:t>(5_History.py)</a:t>
            </a:r>
            <a:r>
              <a:rPr sz="1500" spc="-4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Maintains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searchable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archive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all previously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analyzed</a:t>
            </a:r>
            <a:r>
              <a:rPr sz="1500" spc="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articles,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allowing</a:t>
            </a:r>
            <a:r>
              <a:rPr sz="1500" spc="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users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revisit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past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reports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track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changing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narratives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over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time.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95983" y="1127760"/>
            <a:ext cx="9601200" cy="2444750"/>
            <a:chOff x="1395983" y="1127760"/>
            <a:chExt cx="9601200" cy="2444750"/>
          </a:xfrm>
        </p:grpSpPr>
        <p:sp>
          <p:nvSpPr>
            <p:cNvPr id="8" name="object 8"/>
            <p:cNvSpPr/>
            <p:nvPr/>
          </p:nvSpPr>
          <p:spPr>
            <a:xfrm>
              <a:off x="1395983" y="1127760"/>
              <a:ext cx="70485" cy="996950"/>
            </a:xfrm>
            <a:custGeom>
              <a:avLst/>
              <a:gdLst/>
              <a:ahLst/>
              <a:cxnLst/>
              <a:rect l="l" t="t" r="r" b="b"/>
              <a:pathLst>
                <a:path w="70484" h="996950">
                  <a:moveTo>
                    <a:pt x="70103" y="0"/>
                  </a:moveTo>
                  <a:lnTo>
                    <a:pt x="0" y="0"/>
                  </a:lnTo>
                  <a:lnTo>
                    <a:pt x="0" y="996696"/>
                  </a:lnTo>
                  <a:lnTo>
                    <a:pt x="70103" y="996696"/>
                  </a:lnTo>
                  <a:lnTo>
                    <a:pt x="70103" y="0"/>
                  </a:lnTo>
                  <a:close/>
                </a:path>
              </a:pathLst>
            </a:custGeom>
            <a:solidFill>
              <a:srgbClr val="38B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72183" y="2481072"/>
              <a:ext cx="9525000" cy="1091565"/>
            </a:xfrm>
            <a:custGeom>
              <a:avLst/>
              <a:gdLst/>
              <a:ahLst/>
              <a:cxnLst/>
              <a:rect l="l" t="t" r="r" b="b"/>
              <a:pathLst>
                <a:path w="9525000" h="1091564">
                  <a:moveTo>
                    <a:pt x="9440672" y="0"/>
                  </a:moveTo>
                  <a:lnTo>
                    <a:pt x="84328" y="0"/>
                  </a:lnTo>
                  <a:lnTo>
                    <a:pt x="51488" y="6621"/>
                  </a:lnTo>
                  <a:lnTo>
                    <a:pt x="24685" y="24685"/>
                  </a:lnTo>
                  <a:lnTo>
                    <a:pt x="6621" y="51488"/>
                  </a:lnTo>
                  <a:lnTo>
                    <a:pt x="0" y="84327"/>
                  </a:lnTo>
                  <a:lnTo>
                    <a:pt x="0" y="1006855"/>
                  </a:lnTo>
                  <a:lnTo>
                    <a:pt x="6621" y="1039695"/>
                  </a:lnTo>
                  <a:lnTo>
                    <a:pt x="24685" y="1066498"/>
                  </a:lnTo>
                  <a:lnTo>
                    <a:pt x="51488" y="1084562"/>
                  </a:lnTo>
                  <a:lnTo>
                    <a:pt x="84328" y="1091183"/>
                  </a:lnTo>
                  <a:lnTo>
                    <a:pt x="9440672" y="1091183"/>
                  </a:lnTo>
                  <a:lnTo>
                    <a:pt x="9473511" y="1084562"/>
                  </a:lnTo>
                  <a:lnTo>
                    <a:pt x="9500314" y="1066498"/>
                  </a:lnTo>
                  <a:lnTo>
                    <a:pt x="9518378" y="1039695"/>
                  </a:lnTo>
                  <a:lnTo>
                    <a:pt x="9525000" y="1006855"/>
                  </a:lnTo>
                  <a:lnTo>
                    <a:pt x="9525000" y="84327"/>
                  </a:lnTo>
                  <a:lnTo>
                    <a:pt x="9518378" y="51488"/>
                  </a:lnTo>
                  <a:lnTo>
                    <a:pt x="9500314" y="24685"/>
                  </a:lnTo>
                  <a:lnTo>
                    <a:pt x="9473511" y="6621"/>
                  </a:lnTo>
                  <a:lnTo>
                    <a:pt x="9440672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400680" y="2710738"/>
            <a:ext cx="8468360" cy="635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95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Source</a:t>
            </a:r>
            <a:r>
              <a:rPr sz="1500" spc="-3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Management</a:t>
            </a:r>
            <a:r>
              <a:rPr sz="1500" spc="-8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(6_Sources.py)</a:t>
            </a:r>
            <a:r>
              <a:rPr sz="1500" spc="-14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interface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manage,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whitelist,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or blacklist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specific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domains,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directly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influencing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Source</a:t>
            </a:r>
            <a:r>
              <a:rPr sz="1500" spc="-1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Analyzer's trust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metric.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99032" y="2465832"/>
            <a:ext cx="9598660" cy="2453640"/>
            <a:chOff x="1399032" y="2465832"/>
            <a:chExt cx="9598660" cy="2453640"/>
          </a:xfrm>
        </p:grpSpPr>
        <p:sp>
          <p:nvSpPr>
            <p:cNvPr id="12" name="object 12"/>
            <p:cNvSpPr/>
            <p:nvPr/>
          </p:nvSpPr>
          <p:spPr>
            <a:xfrm>
              <a:off x="1399032" y="2465832"/>
              <a:ext cx="73660" cy="1094740"/>
            </a:xfrm>
            <a:custGeom>
              <a:avLst/>
              <a:gdLst/>
              <a:ahLst/>
              <a:cxnLst/>
              <a:rect l="l" t="t" r="r" b="b"/>
              <a:pathLst>
                <a:path w="73659" h="1094739">
                  <a:moveTo>
                    <a:pt x="73152" y="0"/>
                  </a:moveTo>
                  <a:lnTo>
                    <a:pt x="0" y="0"/>
                  </a:lnTo>
                  <a:lnTo>
                    <a:pt x="0" y="1094232"/>
                  </a:lnTo>
                  <a:lnTo>
                    <a:pt x="73152" y="1094232"/>
                  </a:lnTo>
                  <a:lnTo>
                    <a:pt x="73152" y="0"/>
                  </a:lnTo>
                  <a:close/>
                </a:path>
              </a:pathLst>
            </a:custGeom>
            <a:solidFill>
              <a:srgbClr val="38B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72184" y="3898392"/>
              <a:ext cx="9525000" cy="1021080"/>
            </a:xfrm>
            <a:custGeom>
              <a:avLst/>
              <a:gdLst/>
              <a:ahLst/>
              <a:cxnLst/>
              <a:rect l="l" t="t" r="r" b="b"/>
              <a:pathLst>
                <a:path w="9525000" h="1021079">
                  <a:moveTo>
                    <a:pt x="9446006" y="0"/>
                  </a:moveTo>
                  <a:lnTo>
                    <a:pt x="78993" y="0"/>
                  </a:lnTo>
                  <a:lnTo>
                    <a:pt x="48220" y="6199"/>
                  </a:lnTo>
                  <a:lnTo>
                    <a:pt x="23113" y="23113"/>
                  </a:lnTo>
                  <a:lnTo>
                    <a:pt x="6199" y="48220"/>
                  </a:lnTo>
                  <a:lnTo>
                    <a:pt x="0" y="78993"/>
                  </a:lnTo>
                  <a:lnTo>
                    <a:pt x="0" y="942085"/>
                  </a:lnTo>
                  <a:lnTo>
                    <a:pt x="6199" y="972859"/>
                  </a:lnTo>
                  <a:lnTo>
                    <a:pt x="23114" y="997965"/>
                  </a:lnTo>
                  <a:lnTo>
                    <a:pt x="48220" y="1014880"/>
                  </a:lnTo>
                  <a:lnTo>
                    <a:pt x="78993" y="1021079"/>
                  </a:lnTo>
                  <a:lnTo>
                    <a:pt x="9446006" y="1021079"/>
                  </a:lnTo>
                  <a:lnTo>
                    <a:pt x="9476779" y="1014880"/>
                  </a:lnTo>
                  <a:lnTo>
                    <a:pt x="9501886" y="997965"/>
                  </a:lnTo>
                  <a:lnTo>
                    <a:pt x="9518800" y="972859"/>
                  </a:lnTo>
                  <a:lnTo>
                    <a:pt x="9525000" y="942085"/>
                  </a:lnTo>
                  <a:lnTo>
                    <a:pt x="9525000" y="78993"/>
                  </a:lnTo>
                  <a:lnTo>
                    <a:pt x="9518800" y="48220"/>
                  </a:lnTo>
                  <a:lnTo>
                    <a:pt x="9501886" y="23113"/>
                  </a:lnTo>
                  <a:lnTo>
                    <a:pt x="9476779" y="6199"/>
                  </a:lnTo>
                  <a:lnTo>
                    <a:pt x="9446006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00985" y="4009821"/>
            <a:ext cx="8227059" cy="635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95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System</a:t>
            </a:r>
            <a:r>
              <a:rPr sz="1500" spc="-4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Settings</a:t>
            </a:r>
            <a:r>
              <a:rPr sz="1500" spc="-6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(8_Settings.py)</a:t>
            </a:r>
            <a:r>
              <a:rPr sz="1500" spc="-7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Exposes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configuration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options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derived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from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settings.py,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enabling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users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tweak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ML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thresholds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API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keys.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395983" y="3901440"/>
            <a:ext cx="9580245" cy="2524125"/>
            <a:chOff x="1395983" y="3901440"/>
            <a:chExt cx="9580245" cy="2524125"/>
          </a:xfrm>
        </p:grpSpPr>
        <p:sp>
          <p:nvSpPr>
            <p:cNvPr id="16" name="object 16"/>
            <p:cNvSpPr/>
            <p:nvPr/>
          </p:nvSpPr>
          <p:spPr>
            <a:xfrm>
              <a:off x="1395983" y="3901440"/>
              <a:ext cx="70485" cy="1021080"/>
            </a:xfrm>
            <a:custGeom>
              <a:avLst/>
              <a:gdLst/>
              <a:ahLst/>
              <a:cxnLst/>
              <a:rect l="l" t="t" r="r" b="b"/>
              <a:pathLst>
                <a:path w="70484" h="1021079">
                  <a:moveTo>
                    <a:pt x="70103" y="0"/>
                  </a:moveTo>
                  <a:lnTo>
                    <a:pt x="0" y="0"/>
                  </a:lnTo>
                  <a:lnTo>
                    <a:pt x="0" y="1021080"/>
                  </a:lnTo>
                  <a:lnTo>
                    <a:pt x="70103" y="1021080"/>
                  </a:lnTo>
                  <a:lnTo>
                    <a:pt x="70103" y="0"/>
                  </a:lnTo>
                  <a:close/>
                </a:path>
              </a:pathLst>
            </a:custGeom>
            <a:solidFill>
              <a:srgbClr val="38B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90471" y="5443728"/>
              <a:ext cx="9485630" cy="981710"/>
            </a:xfrm>
            <a:custGeom>
              <a:avLst/>
              <a:gdLst/>
              <a:ahLst/>
              <a:cxnLst/>
              <a:rect l="l" t="t" r="r" b="b"/>
              <a:pathLst>
                <a:path w="9485630" h="981710">
                  <a:moveTo>
                    <a:pt x="9409557" y="0"/>
                  </a:moveTo>
                  <a:lnTo>
                    <a:pt x="75818" y="0"/>
                  </a:lnTo>
                  <a:lnTo>
                    <a:pt x="46345" y="5970"/>
                  </a:lnTo>
                  <a:lnTo>
                    <a:pt x="22240" y="22240"/>
                  </a:lnTo>
                  <a:lnTo>
                    <a:pt x="5970" y="46345"/>
                  </a:lnTo>
                  <a:lnTo>
                    <a:pt x="0" y="75819"/>
                  </a:lnTo>
                  <a:lnTo>
                    <a:pt x="0" y="905573"/>
                  </a:lnTo>
                  <a:lnTo>
                    <a:pt x="5970" y="935110"/>
                  </a:lnTo>
                  <a:lnTo>
                    <a:pt x="22240" y="959231"/>
                  </a:lnTo>
                  <a:lnTo>
                    <a:pt x="46345" y="975492"/>
                  </a:lnTo>
                  <a:lnTo>
                    <a:pt x="75818" y="981456"/>
                  </a:lnTo>
                  <a:lnTo>
                    <a:pt x="9409557" y="981456"/>
                  </a:lnTo>
                  <a:lnTo>
                    <a:pt x="9439030" y="975492"/>
                  </a:lnTo>
                  <a:lnTo>
                    <a:pt x="9463135" y="959231"/>
                  </a:lnTo>
                  <a:lnTo>
                    <a:pt x="9479405" y="935110"/>
                  </a:lnTo>
                  <a:lnTo>
                    <a:pt x="9485376" y="905573"/>
                  </a:lnTo>
                  <a:lnTo>
                    <a:pt x="9485376" y="75819"/>
                  </a:lnTo>
                  <a:lnTo>
                    <a:pt x="9479405" y="46345"/>
                  </a:lnTo>
                  <a:lnTo>
                    <a:pt x="9463135" y="22240"/>
                  </a:lnTo>
                  <a:lnTo>
                    <a:pt x="9439030" y="5970"/>
                  </a:lnTo>
                  <a:lnTo>
                    <a:pt x="9409557" y="0"/>
                  </a:lnTo>
                  <a:close/>
                </a:path>
              </a:pathLst>
            </a:custGeom>
            <a:solidFill>
              <a:srgbClr val="1E293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339720" y="5627566"/>
            <a:ext cx="7077709" cy="6362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Core Utilities</a:t>
            </a:r>
            <a:r>
              <a:rPr sz="1500" spc="-3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(utils/)</a:t>
            </a:r>
            <a:r>
              <a:rPr sz="1500" spc="-3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Behind-the-scenes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scripts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like text_utils.py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for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natural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language</a:t>
            </a:r>
            <a:endParaRPr sz="1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preprocessing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 ui_utils.py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for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consistent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interface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rendering.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441703" y="856488"/>
            <a:ext cx="10101580" cy="5568950"/>
            <a:chOff x="1441703" y="856488"/>
            <a:chExt cx="10101580" cy="5568950"/>
          </a:xfrm>
        </p:grpSpPr>
        <p:sp>
          <p:nvSpPr>
            <p:cNvPr id="20" name="object 20"/>
            <p:cNvSpPr/>
            <p:nvPr/>
          </p:nvSpPr>
          <p:spPr>
            <a:xfrm>
              <a:off x="1441703" y="5446776"/>
              <a:ext cx="48895" cy="978535"/>
            </a:xfrm>
            <a:custGeom>
              <a:avLst/>
              <a:gdLst/>
              <a:ahLst/>
              <a:cxnLst/>
              <a:rect l="l" t="t" r="r" b="b"/>
              <a:pathLst>
                <a:path w="48894" h="978535">
                  <a:moveTo>
                    <a:pt x="48768" y="0"/>
                  </a:moveTo>
                  <a:lnTo>
                    <a:pt x="0" y="0"/>
                  </a:lnTo>
                  <a:lnTo>
                    <a:pt x="0" y="978408"/>
                  </a:lnTo>
                  <a:lnTo>
                    <a:pt x="48768" y="978408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38B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74519" y="1475232"/>
              <a:ext cx="265175" cy="277367"/>
            </a:xfrm>
            <a:prstGeom prst="rect">
              <a:avLst/>
            </a:prstGeom>
          </p:spPr>
        </p:pic>
        <p:pic>
          <p:nvPicPr>
            <p:cNvPr id="22" name="object 22" descr="image.png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3183" y="2901695"/>
              <a:ext cx="268224" cy="277367"/>
            </a:xfrm>
            <a:prstGeom prst="rect">
              <a:avLst/>
            </a:prstGeom>
          </p:spPr>
        </p:pic>
        <p:pic>
          <p:nvPicPr>
            <p:cNvPr id="23" name="object 23" descr="image.png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83663" y="4178808"/>
              <a:ext cx="268224" cy="277368"/>
            </a:xfrm>
            <a:prstGeom prst="rect">
              <a:avLst/>
            </a:prstGeom>
          </p:spPr>
        </p:pic>
        <p:pic>
          <p:nvPicPr>
            <p:cNvPr id="24" name="object 24" descr="image.png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40991" y="5843016"/>
              <a:ext cx="265175" cy="27736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490471" y="856488"/>
              <a:ext cx="10052685" cy="45720"/>
            </a:xfrm>
            <a:custGeom>
              <a:avLst/>
              <a:gdLst/>
              <a:ahLst/>
              <a:cxnLst/>
              <a:rect l="l" t="t" r="r" b="b"/>
              <a:pathLst>
                <a:path w="10052685" h="45719">
                  <a:moveTo>
                    <a:pt x="10052304" y="0"/>
                  </a:moveTo>
                  <a:lnTo>
                    <a:pt x="0" y="0"/>
                  </a:lnTo>
                  <a:lnTo>
                    <a:pt x="0" y="45720"/>
                  </a:lnTo>
                  <a:lnTo>
                    <a:pt x="10052304" y="45720"/>
                  </a:lnTo>
                  <a:lnTo>
                    <a:pt x="10052304" y="0"/>
                  </a:lnTo>
                  <a:close/>
                </a:path>
              </a:pathLst>
            </a:custGeom>
            <a:solidFill>
              <a:srgbClr val="38BC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1477517" y="182321"/>
            <a:ext cx="668020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Supporting</a:t>
            </a:r>
            <a:r>
              <a:rPr spc="-40" dirty="0"/>
              <a:t> </a:t>
            </a:r>
            <a:r>
              <a:rPr dirty="0"/>
              <a:t>Modules</a:t>
            </a:r>
            <a:r>
              <a:rPr spc="-25" dirty="0"/>
              <a:t> </a:t>
            </a:r>
            <a:r>
              <a:rPr dirty="0"/>
              <a:t>&amp;</a:t>
            </a:r>
            <a:r>
              <a:rPr spc="10" dirty="0"/>
              <a:t> </a:t>
            </a:r>
            <a:r>
              <a:rPr spc="-10" dirty="0"/>
              <a:t>Utilities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4" name="object 4" descr="image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3023" y="4376928"/>
              <a:ext cx="2429256" cy="1572768"/>
            </a:xfrm>
            <a:prstGeom prst="rect">
              <a:avLst/>
            </a:prstGeom>
          </p:spPr>
        </p:pic>
      </p:grpSp>
      <p:pic>
        <p:nvPicPr>
          <p:cNvPr id="5" name="object 5" descr="image.pn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44240" y="2139695"/>
            <a:ext cx="2429256" cy="1569720"/>
          </a:xfrm>
          <a:prstGeom prst="rect">
            <a:avLst/>
          </a:prstGeom>
        </p:spPr>
      </p:pic>
      <p:pic>
        <p:nvPicPr>
          <p:cNvPr id="6" name="object 6" descr="image.png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15455" y="4376928"/>
            <a:ext cx="2432304" cy="1972056"/>
          </a:xfrm>
          <a:prstGeom prst="rect">
            <a:avLst/>
          </a:prstGeom>
        </p:spPr>
      </p:pic>
      <p:pic>
        <p:nvPicPr>
          <p:cNvPr id="7" name="object 7" descr="image.png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89719" y="2148839"/>
            <a:ext cx="2429255" cy="156057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0973" y="4538316"/>
            <a:ext cx="1808480" cy="12026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00"/>
              </a:spcBef>
            </a:pPr>
            <a:r>
              <a:rPr sz="1050" b="1" dirty="0">
                <a:solidFill>
                  <a:srgbClr val="38BCF8"/>
                </a:solidFill>
                <a:latin typeface="Arial"/>
                <a:cs typeface="Arial"/>
              </a:rPr>
              <a:t>STEP</a:t>
            </a:r>
            <a:r>
              <a:rPr sz="1050" b="1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38BCF8"/>
                </a:solidFill>
                <a:latin typeface="Arial"/>
                <a:cs typeface="Arial"/>
              </a:rPr>
              <a:t>1</a:t>
            </a:r>
            <a:endParaRPr sz="1050">
              <a:latin typeface="Arial"/>
              <a:cs typeface="Arial"/>
            </a:endParaRPr>
          </a:p>
          <a:p>
            <a:pPr marL="2540" algn="ctr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Input</a:t>
            </a:r>
            <a:r>
              <a:rPr sz="1500" spc="-4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&amp;</a:t>
            </a:r>
            <a:r>
              <a:rPr sz="1500" spc="-10" dirty="0">
                <a:solidFill>
                  <a:srgbClr val="F8F9FB"/>
                </a:solidFill>
                <a:latin typeface="Arial MT"/>
                <a:cs typeface="Arial MT"/>
              </a:rPr>
              <a:t> Parsing</a:t>
            </a:r>
            <a:endParaRPr sz="1500">
              <a:latin typeface="Arial MT"/>
              <a:cs typeface="Arial MT"/>
            </a:endParaRPr>
          </a:p>
          <a:p>
            <a:pPr marL="12700" marR="5080" algn="ctr">
              <a:lnSpc>
                <a:spcPct val="121000"/>
              </a:lnSpc>
              <a:spcBef>
                <a:spcPts val="910"/>
              </a:spcBef>
            </a:pP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User</a:t>
            </a:r>
            <a:r>
              <a:rPr sz="1100" spc="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submits</a:t>
            </a:r>
            <a:r>
              <a:rPr sz="1100" spc="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text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via</a:t>
            </a:r>
            <a:r>
              <a:rPr sz="1100" spc="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CAD4E0"/>
                </a:solidFill>
                <a:latin typeface="Arial MT"/>
                <a:cs typeface="Arial MT"/>
              </a:rPr>
              <a:t>UI.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text_utils.py</a:t>
            </a:r>
            <a:r>
              <a:rPr sz="1100" spc="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cleans</a:t>
            </a:r>
            <a:r>
              <a:rPr sz="1100" spc="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100" spc="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CAD4E0"/>
                </a:solidFill>
                <a:latin typeface="Arial MT"/>
                <a:cs typeface="Arial MT"/>
              </a:rPr>
              <a:t>data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100" spc="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extracts</a:t>
            </a:r>
            <a:r>
              <a:rPr sz="11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key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AD4E0"/>
                </a:solidFill>
                <a:latin typeface="Arial MT"/>
                <a:cs typeface="Arial MT"/>
              </a:rPr>
              <a:t>entities.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18635" y="2298926"/>
            <a:ext cx="1680845" cy="12026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300"/>
              </a:spcBef>
            </a:pPr>
            <a:r>
              <a:rPr sz="1050" b="1" dirty="0">
                <a:solidFill>
                  <a:srgbClr val="38BCF8"/>
                </a:solidFill>
                <a:latin typeface="Arial"/>
                <a:cs typeface="Arial"/>
              </a:rPr>
              <a:t>STEP</a:t>
            </a:r>
            <a:r>
              <a:rPr sz="1050" b="1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38BCF8"/>
                </a:solidFill>
                <a:latin typeface="Arial"/>
                <a:cs typeface="Arial"/>
              </a:rPr>
              <a:t>2</a:t>
            </a:r>
            <a:endParaRPr sz="1050">
              <a:latin typeface="Arial"/>
              <a:cs typeface="Arial"/>
            </a:endParaRPr>
          </a:p>
          <a:p>
            <a:pPr marL="1905" algn="ctr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ML</a:t>
            </a:r>
            <a:r>
              <a:rPr sz="1500" spc="-8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 MT"/>
                <a:cs typeface="Arial MT"/>
              </a:rPr>
              <a:t>Prediction</a:t>
            </a:r>
            <a:endParaRPr sz="1500">
              <a:latin typeface="Arial MT"/>
              <a:cs typeface="Arial MT"/>
            </a:endParaRPr>
          </a:p>
          <a:p>
            <a:pPr marL="12700" marR="5080" indent="54610" algn="just">
              <a:lnSpc>
                <a:spcPct val="121000"/>
              </a:lnSpc>
              <a:spcBef>
                <a:spcPts val="910"/>
              </a:spcBef>
            </a:pP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text</a:t>
            </a:r>
            <a:r>
              <a:rPr sz="1100" spc="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is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processed</a:t>
            </a:r>
            <a:r>
              <a:rPr sz="11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CAD4E0"/>
                </a:solidFill>
                <a:latin typeface="Arial MT"/>
                <a:cs typeface="Arial MT"/>
              </a:rPr>
              <a:t>by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predictor.py</a:t>
            </a:r>
            <a:r>
              <a:rPr sz="1100" spc="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generate</a:t>
            </a:r>
            <a:r>
              <a:rPr sz="1100" spc="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CAD4E0"/>
                </a:solidFill>
                <a:latin typeface="Arial MT"/>
                <a:cs typeface="Arial MT"/>
              </a:rPr>
              <a:t>a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baseline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probability</a:t>
            </a:r>
            <a:r>
              <a:rPr sz="1100" spc="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AD4E0"/>
                </a:solidFill>
                <a:latin typeface="Arial MT"/>
                <a:cs typeface="Arial MT"/>
              </a:rPr>
              <a:t>score.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48755" y="4538316"/>
            <a:ext cx="1966595" cy="12026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00"/>
              </a:spcBef>
            </a:pPr>
            <a:r>
              <a:rPr sz="1050" b="1" dirty="0">
                <a:solidFill>
                  <a:srgbClr val="38BCF8"/>
                </a:solidFill>
                <a:latin typeface="Arial"/>
                <a:cs typeface="Arial"/>
              </a:rPr>
              <a:t>STEP</a:t>
            </a:r>
            <a:r>
              <a:rPr sz="1050" b="1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38BCF8"/>
                </a:solidFill>
                <a:latin typeface="Arial"/>
                <a:cs typeface="Arial"/>
              </a:rPr>
              <a:t>3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Fact</a:t>
            </a:r>
            <a:r>
              <a:rPr sz="1500" spc="-2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F8F9FB"/>
                </a:solidFill>
                <a:latin typeface="Arial MT"/>
                <a:cs typeface="Arial MT"/>
              </a:rPr>
              <a:t>Verification</a:t>
            </a:r>
            <a:endParaRPr sz="1500">
              <a:latin typeface="Arial MT"/>
              <a:cs typeface="Arial MT"/>
            </a:endParaRPr>
          </a:p>
          <a:p>
            <a:pPr marL="12700" marR="5080" indent="1270" algn="ctr">
              <a:lnSpc>
                <a:spcPct val="121000"/>
              </a:lnSpc>
              <a:spcBef>
                <a:spcPts val="910"/>
              </a:spcBef>
            </a:pP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100" spc="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AD4E0"/>
                </a:solidFill>
                <a:latin typeface="Arial MT"/>
                <a:cs typeface="Arial MT"/>
              </a:rPr>
              <a:t>verification_engine.py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searches</a:t>
            </a:r>
            <a:r>
              <a:rPr sz="11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live</a:t>
            </a:r>
            <a:r>
              <a:rPr sz="1100" spc="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data</a:t>
            </a:r>
            <a:r>
              <a:rPr sz="1100" spc="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CAD4E0"/>
                </a:solidFill>
                <a:latin typeface="Arial MT"/>
                <a:cs typeface="Arial MT"/>
              </a:rPr>
              <a:t>and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analyzes</a:t>
            </a:r>
            <a:r>
              <a:rPr sz="1100" spc="8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source</a:t>
            </a:r>
            <a:r>
              <a:rPr sz="1100" spc="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AD4E0"/>
                </a:solidFill>
                <a:latin typeface="Arial MT"/>
                <a:cs typeface="Arial MT"/>
              </a:rPr>
              <a:t>credibility.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34321" y="2308021"/>
            <a:ext cx="1946275" cy="120269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05"/>
              </a:spcBef>
            </a:pPr>
            <a:r>
              <a:rPr sz="1050" b="1" dirty="0">
                <a:solidFill>
                  <a:srgbClr val="38BCF8"/>
                </a:solidFill>
                <a:latin typeface="Arial"/>
                <a:cs typeface="Arial"/>
              </a:rPr>
              <a:t>STEP</a:t>
            </a:r>
            <a:r>
              <a:rPr sz="1050" b="1" spc="-35" dirty="0">
                <a:solidFill>
                  <a:srgbClr val="38BCF8"/>
                </a:solidFill>
                <a:latin typeface="Arial"/>
                <a:cs typeface="Arial"/>
              </a:rPr>
              <a:t> </a:t>
            </a:r>
            <a:r>
              <a:rPr sz="1050" b="1" spc="-50" dirty="0">
                <a:solidFill>
                  <a:srgbClr val="38BCF8"/>
                </a:solidFill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00"/>
              </a:spcBef>
            </a:pPr>
            <a:r>
              <a:rPr sz="1500" dirty="0">
                <a:solidFill>
                  <a:srgbClr val="F8F9FB"/>
                </a:solidFill>
                <a:latin typeface="Arial MT"/>
                <a:cs typeface="Arial MT"/>
              </a:rPr>
              <a:t>Report</a:t>
            </a:r>
            <a:r>
              <a:rPr sz="1500" spc="-40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F8F9FB"/>
                </a:solidFill>
                <a:latin typeface="Arial MT"/>
                <a:cs typeface="Arial MT"/>
              </a:rPr>
              <a:t>Gen</a:t>
            </a:r>
            <a:endParaRPr sz="1500">
              <a:latin typeface="Arial MT"/>
              <a:cs typeface="Arial MT"/>
            </a:endParaRPr>
          </a:p>
          <a:p>
            <a:pPr marL="12700" marR="5080" algn="ctr">
              <a:lnSpc>
                <a:spcPct val="120900"/>
              </a:lnSpc>
              <a:spcBef>
                <a:spcPts val="910"/>
              </a:spcBef>
            </a:pP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Scores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are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aggregated,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CAD4E0"/>
                </a:solidFill>
                <a:latin typeface="Arial MT"/>
                <a:cs typeface="Arial MT"/>
              </a:rPr>
              <a:t>saved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SQLite,</a:t>
            </a:r>
            <a:r>
              <a:rPr sz="1100" spc="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100" spc="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formatted</a:t>
            </a:r>
            <a:r>
              <a:rPr sz="1100" spc="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CAD4E0"/>
                </a:solidFill>
                <a:latin typeface="Arial MT"/>
                <a:cs typeface="Arial MT"/>
              </a:rPr>
              <a:t>into </a:t>
            </a:r>
            <a:r>
              <a:rPr sz="1100" dirty="0">
                <a:solidFill>
                  <a:srgbClr val="CAD4E0"/>
                </a:solidFill>
                <a:latin typeface="Arial MT"/>
                <a:cs typeface="Arial MT"/>
              </a:rPr>
              <a:t>exportable</a:t>
            </a:r>
            <a:r>
              <a:rPr sz="1100" spc="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100" spc="-20" dirty="0">
                <a:solidFill>
                  <a:srgbClr val="CAD4E0"/>
                </a:solidFill>
                <a:latin typeface="Arial MT"/>
                <a:cs typeface="Arial MT"/>
              </a:rPr>
              <a:t>PDFs.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621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End-</a:t>
            </a:r>
            <a:r>
              <a:rPr spc="-20" dirty="0"/>
              <a:t>to-</a:t>
            </a:r>
            <a:r>
              <a:rPr dirty="0"/>
              <a:t>End</a:t>
            </a:r>
            <a:r>
              <a:rPr spc="-140" dirty="0"/>
              <a:t> </a:t>
            </a:r>
            <a:r>
              <a:rPr spc="-10" dirty="0"/>
              <a:t>Verification</a:t>
            </a:r>
            <a:r>
              <a:rPr spc="-11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13" name="object 13"/>
          <p:cNvSpPr/>
          <p:nvPr/>
        </p:nvSpPr>
        <p:spPr>
          <a:xfrm>
            <a:off x="573023" y="1399032"/>
            <a:ext cx="11049000" cy="21590"/>
          </a:xfrm>
          <a:custGeom>
            <a:avLst/>
            <a:gdLst/>
            <a:ahLst/>
            <a:cxnLst/>
            <a:rect l="l" t="t" r="r" b="b"/>
            <a:pathLst>
              <a:path w="11049000" h="21590">
                <a:moveTo>
                  <a:pt x="11049000" y="0"/>
                </a:moveTo>
                <a:lnTo>
                  <a:pt x="0" y="0"/>
                </a:lnTo>
                <a:lnTo>
                  <a:pt x="0" y="21336"/>
                </a:lnTo>
                <a:lnTo>
                  <a:pt x="11049000" y="21336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1655064" y="3910584"/>
            <a:ext cx="268605" cy="268605"/>
            <a:chOff x="1655064" y="3910584"/>
            <a:chExt cx="268605" cy="26860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4876" y="3930396"/>
              <a:ext cx="228600" cy="228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4876" y="393039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9624">
              <a:solidFill>
                <a:srgbClr val="38BC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4526279" y="3910584"/>
            <a:ext cx="268605" cy="268605"/>
            <a:chOff x="4526279" y="3910584"/>
            <a:chExt cx="268605" cy="268605"/>
          </a:xfrm>
        </p:grpSpPr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46091" y="3930396"/>
              <a:ext cx="228600" cy="2286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546091" y="393039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9624">
              <a:solidFill>
                <a:srgbClr val="38BC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7400543" y="3910584"/>
            <a:ext cx="268605" cy="268605"/>
            <a:chOff x="7400543" y="3910584"/>
            <a:chExt cx="268605" cy="26860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20355" y="3930396"/>
              <a:ext cx="228600" cy="22860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420355" y="393039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9624">
              <a:solidFill>
                <a:srgbClr val="38BC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0271759" y="3910584"/>
            <a:ext cx="268605" cy="268605"/>
            <a:chOff x="10271759" y="3910584"/>
            <a:chExt cx="268605" cy="268605"/>
          </a:xfrm>
        </p:grpSpPr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91571" y="3930396"/>
              <a:ext cx="228600" cy="2286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291571" y="3930396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0" y="114299"/>
                  </a:moveTo>
                  <a:lnTo>
                    <a:pt x="8983" y="69812"/>
                  </a:lnTo>
                  <a:lnTo>
                    <a:pt x="33480" y="33480"/>
                  </a:lnTo>
                  <a:lnTo>
                    <a:pt x="69812" y="8983"/>
                  </a:lnTo>
                  <a:lnTo>
                    <a:pt x="114300" y="0"/>
                  </a:lnTo>
                  <a:lnTo>
                    <a:pt x="158787" y="8983"/>
                  </a:lnTo>
                  <a:lnTo>
                    <a:pt x="195119" y="33480"/>
                  </a:lnTo>
                  <a:lnTo>
                    <a:pt x="219616" y="69812"/>
                  </a:lnTo>
                  <a:lnTo>
                    <a:pt x="228600" y="114299"/>
                  </a:lnTo>
                  <a:lnTo>
                    <a:pt x="219616" y="158787"/>
                  </a:lnTo>
                  <a:lnTo>
                    <a:pt x="195119" y="195119"/>
                  </a:lnTo>
                  <a:lnTo>
                    <a:pt x="158787" y="219616"/>
                  </a:lnTo>
                  <a:lnTo>
                    <a:pt x="114300" y="228599"/>
                  </a:lnTo>
                  <a:lnTo>
                    <a:pt x="69812" y="219616"/>
                  </a:lnTo>
                  <a:lnTo>
                    <a:pt x="33480" y="195119"/>
                  </a:lnTo>
                  <a:lnTo>
                    <a:pt x="8983" y="158787"/>
                  </a:lnTo>
                  <a:lnTo>
                    <a:pt x="0" y="114299"/>
                  </a:lnTo>
                  <a:close/>
                </a:path>
              </a:pathLst>
            </a:custGeom>
            <a:ln w="39624">
              <a:solidFill>
                <a:srgbClr val="38BCF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9553" y="1976754"/>
            <a:ext cx="3893820" cy="1119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solidFill>
                  <a:srgbClr val="38BCF8"/>
                </a:solidFill>
                <a:latin typeface="Arial MT"/>
                <a:cs typeface="Arial MT"/>
              </a:rPr>
              <a:t>Raw</a:t>
            </a:r>
            <a:r>
              <a:rPr sz="2100" spc="-4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8BCF8"/>
                </a:solidFill>
                <a:latin typeface="Arial MT"/>
                <a:cs typeface="Arial MT"/>
              </a:rPr>
              <a:t>Datasets</a:t>
            </a:r>
            <a:endParaRPr sz="2100">
              <a:latin typeface="Arial MT"/>
              <a:cs typeface="Arial MT"/>
            </a:endParaRPr>
          </a:p>
          <a:p>
            <a:pPr marL="12700" marR="5080">
              <a:lnSpc>
                <a:spcPct val="133300"/>
              </a:lnSpc>
              <a:spcBef>
                <a:spcPts val="1280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foundation</a:t>
            </a:r>
            <a:r>
              <a:rPr sz="1500" spc="-6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ML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model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relies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on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vast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quantities</a:t>
            </a:r>
            <a:r>
              <a:rPr sz="1500" spc="-9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labeled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data.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3" name="object 3" descr="image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3167" y="2072494"/>
            <a:ext cx="170687" cy="17997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16253" y="3261579"/>
            <a:ext cx="4132579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just">
              <a:lnSpc>
                <a:spcPct val="133400"/>
              </a:lnSpc>
              <a:spcBef>
                <a:spcPts val="90"/>
              </a:spcBef>
            </a:pPr>
            <a:r>
              <a:rPr sz="1500" b="1" spc="-20" dirty="0">
                <a:solidFill>
                  <a:srgbClr val="CAD4E0"/>
                </a:solidFill>
                <a:latin typeface="Arial"/>
                <a:cs typeface="Arial"/>
              </a:rPr>
              <a:t>True.csv:</a:t>
            </a:r>
            <a:r>
              <a:rPr sz="1500" b="1" spc="-8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500" spc="-10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curated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collection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verified,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factual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news</a:t>
            </a:r>
            <a:r>
              <a:rPr sz="1500" spc="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articles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used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to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teach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model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identifying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features</a:t>
            </a:r>
            <a:r>
              <a:rPr sz="1500" spc="-8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reliable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reporting.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6253" y="4365567"/>
            <a:ext cx="4129404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4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CAD4E0"/>
                </a:solidFill>
                <a:latin typeface="Arial"/>
                <a:cs typeface="Arial"/>
              </a:rPr>
              <a:t>Fake.csv:</a:t>
            </a:r>
            <a:r>
              <a:rPr sz="1500" b="1" spc="-130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</a:t>
            </a:r>
            <a:r>
              <a:rPr sz="1500" spc="-8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dataset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containing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known</a:t>
            </a:r>
            <a:r>
              <a:rPr sz="1500" spc="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instances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misinformation,</a:t>
            </a:r>
            <a:r>
              <a:rPr sz="1500" spc="-9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satire,</a:t>
            </a:r>
            <a:r>
              <a:rPr sz="1500" spc="-6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fabricated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claims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for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pattern</a:t>
            </a:r>
            <a:r>
              <a:rPr sz="1500" spc="-5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recognition.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1226" y="1976754"/>
            <a:ext cx="4304030" cy="36353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10"/>
              </a:spcBef>
            </a:pPr>
            <a:r>
              <a:rPr sz="2100" dirty="0">
                <a:solidFill>
                  <a:srgbClr val="38BCF8"/>
                </a:solidFill>
                <a:latin typeface="Arial MT"/>
                <a:cs typeface="Arial MT"/>
              </a:rPr>
              <a:t>Data</a:t>
            </a:r>
            <a:r>
              <a:rPr sz="2100" spc="-75" dirty="0">
                <a:solidFill>
                  <a:srgbClr val="38BCF8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38BCF8"/>
                </a:solidFill>
                <a:latin typeface="Arial MT"/>
                <a:cs typeface="Arial MT"/>
              </a:rPr>
              <a:t>Transformation</a:t>
            </a:r>
            <a:endParaRPr sz="2100">
              <a:latin typeface="Arial MT"/>
              <a:cs typeface="Arial MT"/>
            </a:endParaRPr>
          </a:p>
          <a:p>
            <a:pPr marL="12700" marR="325120">
              <a:lnSpc>
                <a:spcPct val="133300"/>
              </a:lnSpc>
              <a:spcBef>
                <a:spcPts val="1280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Raw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data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is</a:t>
            </a:r>
            <a:r>
              <a:rPr sz="1500" spc="-2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never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fed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directly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into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machine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learning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algorithms.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500">
              <a:latin typeface="Arial MT"/>
              <a:cs typeface="Arial MT"/>
            </a:endParaRPr>
          </a:p>
          <a:p>
            <a:pPr marL="279400">
              <a:lnSpc>
                <a:spcPct val="100000"/>
              </a:lnSpc>
            </a:pP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Cleaning:</a:t>
            </a:r>
            <a:r>
              <a:rPr sz="1500" b="1" spc="-5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Removal</a:t>
            </a:r>
            <a:r>
              <a:rPr sz="1500" spc="-8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of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stop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words,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punctuation,</a:t>
            </a:r>
            <a:endParaRPr sz="1500">
              <a:latin typeface="Arial MT"/>
              <a:cs typeface="Arial MT"/>
            </a:endParaRPr>
          </a:p>
          <a:p>
            <a:pPr marL="279400">
              <a:lnSpc>
                <a:spcPct val="100000"/>
              </a:lnSpc>
              <a:spcBef>
                <a:spcPts val="600"/>
              </a:spcBef>
            </a:pP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and</a:t>
            </a:r>
            <a:r>
              <a:rPr sz="1500" spc="-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HTML</a:t>
            </a:r>
            <a:r>
              <a:rPr sz="1500" spc="-7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tags</a:t>
            </a:r>
            <a:r>
              <a:rPr sz="1500" spc="-4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using the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utils</a:t>
            </a:r>
            <a:r>
              <a:rPr sz="1500" spc="-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module.</a:t>
            </a: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500">
              <a:latin typeface="Arial MT"/>
              <a:cs typeface="Arial MT"/>
            </a:endParaRPr>
          </a:p>
          <a:p>
            <a:pPr marL="279400" marR="17145">
              <a:lnSpc>
                <a:spcPct val="133400"/>
              </a:lnSpc>
            </a:pPr>
            <a:r>
              <a:rPr sz="1500" b="1" dirty="0">
                <a:solidFill>
                  <a:srgbClr val="CAD4E0"/>
                </a:solidFill>
                <a:latin typeface="Arial"/>
                <a:cs typeface="Arial"/>
              </a:rPr>
              <a:t>Processing:</a:t>
            </a:r>
            <a:r>
              <a:rPr sz="1500" b="1" spc="-65" dirty="0">
                <a:solidFill>
                  <a:srgbClr val="CAD4E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3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prepare_dataset.py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script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converts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raw</a:t>
            </a:r>
            <a:r>
              <a:rPr sz="1500" spc="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text into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numerical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vectors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and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stores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them</a:t>
            </a:r>
            <a:r>
              <a:rPr sz="1500" spc="-3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in</a:t>
            </a:r>
            <a:r>
              <a:rPr sz="1500" spc="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the</a:t>
            </a:r>
            <a:r>
              <a:rPr sz="1500" spc="-1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data/processed/</a:t>
            </a:r>
            <a:r>
              <a:rPr sz="1500" spc="-5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directory</a:t>
            </a:r>
            <a:r>
              <a:rPr sz="1500" spc="-4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for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efficient</a:t>
            </a:r>
            <a:r>
              <a:rPr sz="1500" spc="-70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CAD4E0"/>
                </a:solidFill>
                <a:latin typeface="Arial MT"/>
                <a:cs typeface="Arial MT"/>
              </a:rPr>
              <a:t>model</a:t>
            </a:r>
            <a:r>
              <a:rPr sz="1500" spc="-25" dirty="0">
                <a:solidFill>
                  <a:srgbClr val="CAD4E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CAD4E0"/>
                </a:solidFill>
                <a:latin typeface="Arial MT"/>
                <a:cs typeface="Arial MT"/>
              </a:rPr>
              <a:t>training.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9553" y="3268802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9553" y="437464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1226" y="3268802"/>
            <a:ext cx="14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61226" y="4374642"/>
            <a:ext cx="1397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38BCF8"/>
                </a:solidFill>
                <a:latin typeface="MS Gothic"/>
                <a:cs typeface="MS Gothic"/>
              </a:rPr>
              <a:t>▹</a:t>
            </a:r>
            <a:endParaRPr sz="1800">
              <a:latin typeface="MS Gothic"/>
              <a:cs typeface="MS Gothic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4068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10" dirty="0"/>
              <a:t> </a:t>
            </a:r>
            <a:r>
              <a:rPr dirty="0"/>
              <a:t>Flow</a:t>
            </a:r>
            <a:r>
              <a:rPr spc="-45" dirty="0"/>
              <a:t> </a:t>
            </a:r>
            <a:r>
              <a:rPr dirty="0"/>
              <a:t>&amp;</a:t>
            </a:r>
            <a:r>
              <a:rPr spc="-30" dirty="0"/>
              <a:t> </a:t>
            </a:r>
            <a:r>
              <a:rPr spc="-10" dirty="0"/>
              <a:t>Processing</a:t>
            </a:r>
          </a:p>
        </p:txBody>
      </p:sp>
      <p:sp>
        <p:nvSpPr>
          <p:cNvPr id="12" name="object 12"/>
          <p:cNvSpPr/>
          <p:nvPr/>
        </p:nvSpPr>
        <p:spPr>
          <a:xfrm>
            <a:off x="573023" y="1167383"/>
            <a:ext cx="11049000" cy="18415"/>
          </a:xfrm>
          <a:custGeom>
            <a:avLst/>
            <a:gdLst/>
            <a:ahLst/>
            <a:cxnLst/>
            <a:rect l="l" t="t" r="r" b="b"/>
            <a:pathLst>
              <a:path w="11049000" h="18415">
                <a:moveTo>
                  <a:pt x="11049000" y="0"/>
                </a:moveTo>
                <a:lnTo>
                  <a:pt x="0" y="0"/>
                </a:lnTo>
                <a:lnTo>
                  <a:pt x="0" y="18287"/>
                </a:lnTo>
                <a:lnTo>
                  <a:pt x="11049000" y="18287"/>
                </a:lnTo>
                <a:lnTo>
                  <a:pt x="11049000" y="0"/>
                </a:lnTo>
                <a:close/>
              </a:path>
            </a:pathLst>
          </a:custGeom>
          <a:solidFill>
            <a:srgbClr val="38BCF8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000" b="0" dirty="0">
                <a:latin typeface="Arial MT"/>
                <a:cs typeface="Arial MT"/>
              </a:rPr>
              <a:t>Thank</a:t>
            </a:r>
            <a:r>
              <a:rPr sz="6000" b="0" spc="-100" dirty="0">
                <a:latin typeface="Arial MT"/>
                <a:cs typeface="Arial MT"/>
              </a:rPr>
              <a:t> </a:t>
            </a:r>
            <a:r>
              <a:rPr sz="6000" b="0" spc="-525" dirty="0">
                <a:latin typeface="Arial MT"/>
                <a:cs typeface="Arial MT"/>
              </a:rPr>
              <a:t>Y</a:t>
            </a:r>
            <a:r>
              <a:rPr sz="6000" b="0" spc="20" dirty="0">
                <a:latin typeface="Arial MT"/>
                <a:cs typeface="Arial MT"/>
              </a:rPr>
              <a:t>ou</a:t>
            </a:r>
            <a:endParaRPr sz="6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2114" y="3445255"/>
            <a:ext cx="6286500" cy="347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20" dirty="0">
                <a:solidFill>
                  <a:srgbClr val="F8F9FB"/>
                </a:solidFill>
                <a:latin typeface="Arial MT"/>
                <a:cs typeface="Arial MT"/>
              </a:rPr>
              <a:t>TruthGuard</a:t>
            </a:r>
            <a:r>
              <a:rPr sz="2100" spc="-17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8F9FB"/>
                </a:solidFill>
                <a:latin typeface="Arial MT"/>
                <a:cs typeface="Arial MT"/>
              </a:rPr>
              <a:t>AI</a:t>
            </a:r>
            <a:r>
              <a:rPr sz="2100" spc="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8F9FB"/>
                </a:solidFill>
                <a:latin typeface="Arial MT"/>
                <a:cs typeface="Arial MT"/>
              </a:rPr>
              <a:t>- Securing</a:t>
            </a:r>
            <a:r>
              <a:rPr sz="2100" spc="-1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8F9FB"/>
                </a:solidFill>
                <a:latin typeface="Arial MT"/>
                <a:cs typeface="Arial MT"/>
              </a:rPr>
              <a:t>the</a:t>
            </a:r>
            <a:r>
              <a:rPr sz="2100" spc="-4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2100" dirty="0">
                <a:solidFill>
                  <a:srgbClr val="F8F9FB"/>
                </a:solidFill>
                <a:latin typeface="Arial MT"/>
                <a:cs typeface="Arial MT"/>
              </a:rPr>
              <a:t>Information</a:t>
            </a:r>
            <a:r>
              <a:rPr sz="2100" spc="-65" dirty="0">
                <a:solidFill>
                  <a:srgbClr val="F8F9FB"/>
                </a:solidFill>
                <a:latin typeface="Arial MT"/>
                <a:cs typeface="Arial MT"/>
              </a:rPr>
              <a:t> </a:t>
            </a:r>
            <a:r>
              <a:rPr sz="2100" spc="-10" dirty="0">
                <a:solidFill>
                  <a:srgbClr val="F8F9FB"/>
                </a:solidFill>
                <a:latin typeface="Arial MT"/>
                <a:cs typeface="Arial MT"/>
              </a:rPr>
              <a:t>Ecosystem.</a:t>
            </a:r>
            <a:endParaRPr sz="2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808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MS Gothic</vt:lpstr>
      <vt:lpstr>Arial</vt:lpstr>
      <vt:lpstr>Arial MT</vt:lpstr>
      <vt:lpstr>Leelawadee UI</vt:lpstr>
      <vt:lpstr>Office Theme</vt:lpstr>
      <vt:lpstr>🛡️TruthGuard AI</vt:lpstr>
      <vt:lpstr>Platform Introduction</vt:lpstr>
      <vt:lpstr>System Architecture</vt:lpstr>
      <vt:lpstr>Machine Learning Module</vt:lpstr>
      <vt:lpstr>Verification Engine Workflow</vt:lpstr>
      <vt:lpstr>Data Storage &amp; Reporting</vt:lpstr>
      <vt:lpstr>Interactive Interface</vt:lpstr>
      <vt:lpstr>Supporting Modules &amp; Utilities</vt:lpstr>
      <vt:lpstr>End-to-End Verification Workflow</vt:lpstr>
      <vt:lpstr>Data Flow &amp; Processing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Dhruv singh Bisht</cp:lastModifiedBy>
  <cp:revision>1</cp:revision>
  <dcterms:created xsi:type="dcterms:W3CDTF">2026-07-27T18:22:01Z</dcterms:created>
  <dcterms:modified xsi:type="dcterms:W3CDTF">2026-07-27T18:24:39Z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2026-07-27T00:00:00Z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2026-07-27T00:00:00Z</vt:filetime>
  </property>
  <property fmtid="{D5CDD505-2E9C-101B-9397-08002B2CF9AE}" pid="6" name="Producer">
    <vt:lpwstr>www.ilovepdf.com</vt:lpwstr>
  </property>
</Properties>
</file>