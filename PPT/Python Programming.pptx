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67.png" ContentType="image/png"/>
  <Override PartName="/ppt/media/image33.png" ContentType="image/png"/>
  <Override PartName="/ppt/media/image36.png" ContentType="image/png"/>
  <Override PartName="/ppt/media/image12.png" ContentType="image/png"/>
  <Override PartName="/ppt/media/image5.png" ContentType="image/png"/>
  <Override PartName="/ppt/media/image37.png" ContentType="image/png"/>
  <Override PartName="/ppt/media/image13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68.png" ContentType="image/png"/>
  <Override PartName="/ppt/media/image34.png" ContentType="image/png"/>
  <Override PartName="/ppt/media/image17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10.png" ContentType="image/png"/>
  <Override PartName="/ppt/media/image69.png" ContentType="image/png"/>
  <Override PartName="/ppt/media/image35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8.png" ContentType="image/png"/>
  <Override PartName="/ppt/media/image15.png" ContentType="image/png"/>
  <Override PartName="/ppt/media/image21.png" ContentType="image/png"/>
  <Override PartName="/ppt/media/image9.png" ContentType="image/png"/>
  <Override PartName="/ppt/media/image16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27.png" ContentType="image/png"/>
  <Override PartName="/ppt/media/image60.png" ContentType="image/png"/>
  <Override PartName="/ppt/media/image28.png" ContentType="image/png"/>
  <Override PartName="/ppt/media/image61.png" ContentType="image/png"/>
  <Override PartName="/ppt/media/image29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55.png" ContentType="image/png"/>
  <Override PartName="/ppt/media/image70.png" ContentType="image/png"/>
  <Override PartName="/ppt/media/image65.png" ContentType="image/png"/>
  <Override PartName="/ppt/media/image56.png" ContentType="image/png"/>
  <Override PartName="/ppt/media/image71.png" ContentType="image/png"/>
  <Override PartName="/ppt/media/image66.png" ContentType="image/png"/>
  <Override PartName="/ppt/media/image57.png" ContentType="image/png"/>
  <Override PartName="/ppt/media/image72.png" ContentType="image/png"/>
  <Override PartName="/ppt/media/image58.png" ContentType="image/png"/>
  <Override PartName="/ppt/media/image73.png" ContentType="image/png"/>
  <Override PartName="/ppt/media/image59.png" ContentType="image/png"/>
  <Override PartName="/ppt/media/image74.png" ContentType="image/png"/>
  <Override PartName="/ppt/media/image22.png" ContentType="image/png"/>
  <Override PartName="/ppt/media/image75.png" ContentType="image/png"/>
  <Override PartName="/ppt/media/image23.png" ContentType="image/png"/>
  <Override PartName="/ppt/media/image7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EAB0E-7439-45AA-9B22-F4A94D707F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433C18-F3A2-4F0A-A047-6A9F0589719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5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.png"/>
          <p:cNvPicPr/>
          <p:nvPr/>
        </p:nvPicPr>
        <p:blipFill>
          <a:blip r:embed="rId1"/>
          <a:stretch/>
        </p:blipFill>
        <p:spPr>
          <a:xfrm>
            <a:off x="-1007640" y="571680"/>
            <a:ext cx="10667520" cy="765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" name="Group 12"/>
          <p:cNvGrpSpPr/>
          <p:nvPr/>
        </p:nvGrpSpPr>
        <p:grpSpPr>
          <a:xfrm>
            <a:off x="2559240" y="1951560"/>
            <a:ext cx="6876720" cy="3801240"/>
            <a:chOff x="2559240" y="1951560"/>
            <a:chExt cx="6876720" cy="3801240"/>
          </a:xfrm>
        </p:grpSpPr>
        <p:pic>
          <p:nvPicPr>
            <p:cNvPr id="7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3521160" y="4343400"/>
              <a:ext cx="4952520" cy="1409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" name="TextBox 3"/>
            <p:cNvSpPr/>
            <p:nvPr/>
          </p:nvSpPr>
          <p:spPr>
            <a:xfrm>
              <a:off x="3109680" y="2989800"/>
              <a:ext cx="5775840" cy="59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ts val="4657"/>
                </a:lnSpc>
              </a:pPr>
              <a:r>
                <a:rPr b="1" lang="en-US" sz="4050" strike="noStrike" u="none">
                  <a:solidFill>
                    <a:srgbClr val="ffffff"/>
                  </a:solidFill>
                  <a:uFillTx/>
                  <a:latin typeface="Poppins"/>
                </a:rPr>
                <a:t>Python Programming</a:t>
              </a:r>
              <a:endParaRPr b="0" lang="en-US" sz="405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TextBox 4"/>
            <p:cNvSpPr/>
            <p:nvPr/>
          </p:nvSpPr>
          <p:spPr>
            <a:xfrm>
              <a:off x="2559240" y="3772080"/>
              <a:ext cx="687672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ts val="2251"/>
                </a:lnSpc>
              </a:pPr>
              <a:r>
                <a:rPr b="0" lang="en-US" sz="1200" strike="noStrike" u="none">
                  <a:solidFill>
                    <a:srgbClr val="94a3b8"/>
                  </a:solidFill>
                  <a:uFillTx/>
                  <a:latin typeface="Lato"/>
                </a:rPr>
                <a:t>Powering the Modern Digital World: From Core Foundations to Artificial Intelligence</a:t>
              </a:r>
              <a:endParaRPr b="0" lang="en-US" sz="12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10" name="Picture 5" descr="image.png"/>
            <p:cNvPicPr/>
            <p:nvPr/>
          </p:nvPicPr>
          <p:blipFill>
            <a:blip r:embed="rId3"/>
            <a:stretch/>
          </p:blipFill>
          <p:spPr>
            <a:xfrm>
              <a:off x="5592960" y="1951560"/>
              <a:ext cx="809280" cy="809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" name="TextBox 6"/>
            <p:cNvSpPr/>
            <p:nvPr/>
          </p:nvSpPr>
          <p:spPr>
            <a:xfrm>
              <a:off x="3864240" y="4562640"/>
              <a:ext cx="4266720" cy="14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38bdf8"/>
                  </a:solidFill>
                  <a:uFillTx/>
                  <a:latin typeface="Lato SemiBold"/>
                </a:rPr>
                <a:t>PRESENTED BY</a:t>
              </a:r>
              <a:endParaRPr b="0" lang="en-US" sz="98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2" name="TextBox 7"/>
            <p:cNvSpPr/>
            <p:nvPr/>
          </p:nvSpPr>
          <p:spPr>
            <a:xfrm>
              <a:off x="3864240" y="4809960"/>
              <a:ext cx="42667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rgbClr val="ffffff"/>
                  </a:solidFill>
                  <a:uFillTx/>
                  <a:latin typeface="Lato"/>
                </a:rPr>
                <a:t>DHRUV SINGH BISHT</a:t>
              </a:r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3" name="Rectangle 8"/>
            <p:cNvSpPr/>
            <p:nvPr/>
          </p:nvSpPr>
          <p:spPr>
            <a:xfrm>
              <a:off x="3864240" y="5219640"/>
              <a:ext cx="4266720" cy="9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-35640" bIns="-3564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4" name="TextBox 9"/>
            <p:cNvSpPr/>
            <p:nvPr/>
          </p:nvSpPr>
          <p:spPr>
            <a:xfrm>
              <a:off x="3864240" y="5362560"/>
              <a:ext cx="4266720" cy="17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130" strike="noStrike" u="none">
                  <a:solidFill>
                    <a:srgbClr val="cbd5e1"/>
                  </a:solidFill>
                  <a:uFillTx/>
                  <a:latin typeface="Lato"/>
                </a:rPr>
                <a:t>Course:</a:t>
              </a:r>
              <a:r>
                <a:rPr b="0" lang="en-US" sz="1130" strike="noStrike" u="none">
                  <a:solidFill>
                    <a:srgbClr val="cbd5e1"/>
                  </a:solidFill>
                  <a:uFillTx/>
                  <a:latin typeface="Lato"/>
                </a:rPr>
                <a:t> B.Tech (AIML)                      </a:t>
              </a:r>
              <a:r>
                <a:rPr b="1" lang="en-US" sz="1130" strike="noStrike" u="none">
                  <a:solidFill>
                    <a:srgbClr val="cbd5e1"/>
                  </a:solidFill>
                  <a:uFillTx/>
                  <a:latin typeface="Lato"/>
                </a:rPr>
                <a:t>Roll No:</a:t>
              </a:r>
              <a:r>
                <a:rPr b="0" lang="en-US" sz="1130" strike="noStrike" u="none">
                  <a:solidFill>
                    <a:srgbClr val="cbd5e1"/>
                  </a:solidFill>
                  <a:uFillTx/>
                  <a:latin typeface="Lato"/>
                </a:rPr>
                <a:t> 2501221530064  </a:t>
              </a:r>
              <a:endParaRPr b="0" lang="en-US" sz="113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image.png"/>
          <p:cNvPicPr/>
          <p:nvPr/>
        </p:nvPicPr>
        <p:blipFill>
          <a:blip r:embed="rId1"/>
          <a:stretch/>
        </p:blipFill>
        <p:spPr>
          <a:xfrm>
            <a:off x="609120" y="1551240"/>
            <a:ext cx="10667520" cy="146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Box 19"/>
          <p:cNvSpPr/>
          <p:nvPr/>
        </p:nvSpPr>
        <p:spPr>
          <a:xfrm>
            <a:off x="790560" y="113436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History &amp; Key Milestones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" name="Group 22"/>
          <p:cNvGrpSpPr/>
          <p:nvPr/>
        </p:nvGrpSpPr>
        <p:grpSpPr>
          <a:xfrm>
            <a:off x="615960" y="2090520"/>
            <a:ext cx="10667520" cy="2580840"/>
            <a:chOff x="615960" y="2090520"/>
            <a:chExt cx="10667520" cy="2580840"/>
          </a:xfrm>
        </p:grpSpPr>
        <p:pic>
          <p:nvPicPr>
            <p:cNvPr id="18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615960" y="2090520"/>
              <a:ext cx="5190840" cy="2580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6092640" y="2090520"/>
              <a:ext cx="5190840" cy="2580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" name="TextBox 4"/>
            <p:cNvSpPr/>
            <p:nvPr/>
          </p:nvSpPr>
          <p:spPr>
            <a:xfrm>
              <a:off x="1187280" y="2416680"/>
              <a:ext cx="454032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Origins &amp; Conception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" name="TextBox 5"/>
            <p:cNvSpPr/>
            <p:nvPr/>
          </p:nvSpPr>
          <p:spPr>
            <a:xfrm>
              <a:off x="911160" y="285228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Python was conceived in the late 1980s by </a:t>
              </a:r>
              <a:r>
                <a:rPr b="1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Guido van Rossum</a:t>
              </a: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 at CWI in the Netherlands as a successor to the ABC programming language.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" name="TextBox 6"/>
            <p:cNvSpPr/>
            <p:nvPr/>
          </p:nvSpPr>
          <p:spPr>
            <a:xfrm>
              <a:off x="6683400" y="2416680"/>
              <a:ext cx="452016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Language Milestones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" name="TextBox 7"/>
            <p:cNvSpPr/>
            <p:nvPr/>
          </p:nvSpPr>
          <p:spPr>
            <a:xfrm>
              <a:off x="6387840" y="285228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Over three decades of community-driven growth transformed Python into an industry standard with two pivotal modern milestones.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4" name="Picture 8" descr="image.png"/>
            <p:cNvPicPr/>
            <p:nvPr/>
          </p:nvPicPr>
          <p:blipFill>
            <a:blip r:embed="rId4"/>
            <a:stretch/>
          </p:blipFill>
          <p:spPr>
            <a:xfrm>
              <a:off x="911160" y="2437920"/>
              <a:ext cx="16164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" name="TextBox 9"/>
            <p:cNvSpPr/>
            <p:nvPr/>
          </p:nvSpPr>
          <p:spPr>
            <a:xfrm>
              <a:off x="1025280" y="342396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6" name="TextBox 10"/>
            <p:cNvSpPr/>
            <p:nvPr/>
          </p:nvSpPr>
          <p:spPr>
            <a:xfrm>
              <a:off x="1101600" y="342396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1991: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First public release (v0.9.0) featured object-oriented capabilities, functions, and core data structures.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" name="TextBox 11"/>
            <p:cNvSpPr/>
            <p:nvPr/>
          </p:nvSpPr>
          <p:spPr>
            <a:xfrm>
              <a:off x="1025280" y="39002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" name="TextBox 12"/>
            <p:cNvSpPr/>
            <p:nvPr/>
          </p:nvSpPr>
          <p:spPr>
            <a:xfrm>
              <a:off x="1101600" y="390024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The Name: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Derived from the British comedy group </a:t>
              </a:r>
              <a:r>
                <a:rPr b="0" i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Monty Python's Flying Circus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, emphasizing a fun, accessible design philosophy.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9" name="Picture 13" descr="image.png"/>
            <p:cNvPicPr/>
            <p:nvPr/>
          </p:nvPicPr>
          <p:blipFill>
            <a:blip r:embed="rId5"/>
            <a:stretch/>
          </p:blipFill>
          <p:spPr>
            <a:xfrm>
              <a:off x="6387840" y="2437920"/>
              <a:ext cx="18072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" name="TextBox 14"/>
            <p:cNvSpPr/>
            <p:nvPr/>
          </p:nvSpPr>
          <p:spPr>
            <a:xfrm>
              <a:off x="6502320" y="342396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" name="TextBox 15"/>
            <p:cNvSpPr/>
            <p:nvPr/>
          </p:nvSpPr>
          <p:spPr>
            <a:xfrm>
              <a:off x="6578280" y="342396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Python 2.0 (2000):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Introduced modern developer staples like list comprehensions, garbage collection, and Unicode support.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2" name="TextBox 16"/>
            <p:cNvSpPr/>
            <p:nvPr/>
          </p:nvSpPr>
          <p:spPr>
            <a:xfrm>
              <a:off x="6502320" y="39002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" name="TextBox 17"/>
            <p:cNvSpPr/>
            <p:nvPr/>
          </p:nvSpPr>
          <p:spPr>
            <a:xfrm>
              <a:off x="6578280" y="390024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Python 3.0 (2008):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A major release focused on streamlining design consistency, removing redundancy, and fixing fundamental flaws.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4" name="Rectangle 20"/>
          <p:cNvSpPr/>
          <p:nvPr/>
        </p:nvSpPr>
        <p:spPr>
          <a:xfrm>
            <a:off x="615960" y="111528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image.png"/>
          <p:cNvPicPr/>
          <p:nvPr/>
        </p:nvPicPr>
        <p:blipFill>
          <a:blip r:embed="rId1"/>
          <a:stretch/>
        </p:blipFill>
        <p:spPr>
          <a:xfrm>
            <a:off x="6215040" y="2409840"/>
            <a:ext cx="5214600" cy="113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4" descr="image.png"/>
          <p:cNvPicPr/>
          <p:nvPr/>
        </p:nvPicPr>
        <p:blipFill>
          <a:blip r:embed="rId2"/>
          <a:stretch/>
        </p:blipFill>
        <p:spPr>
          <a:xfrm>
            <a:off x="6215040" y="3781440"/>
            <a:ext cx="5214600" cy="113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6" descr="image.png"/>
          <p:cNvPicPr/>
          <p:nvPr/>
        </p:nvPicPr>
        <p:blipFill>
          <a:blip r:embed="rId3"/>
          <a:stretch/>
        </p:blipFill>
        <p:spPr>
          <a:xfrm>
            <a:off x="762120" y="1033200"/>
            <a:ext cx="10667520" cy="69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16"/>
          <p:cNvSpPr/>
          <p:nvPr/>
        </p:nvSpPr>
        <p:spPr>
          <a:xfrm>
            <a:off x="7081920" y="2610000"/>
            <a:ext cx="431532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trike="noStrike" u="none">
                <a:solidFill>
                  <a:srgbClr val="0284c7"/>
                </a:solidFill>
                <a:uFillTx/>
                <a:latin typeface="Poppins SemiBold"/>
              </a:rPr>
              <a:t>Extensive Standard Library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Box 22"/>
          <p:cNvSpPr/>
          <p:nvPr/>
        </p:nvSpPr>
        <p:spPr>
          <a:xfrm>
            <a:off x="7081920" y="3981600"/>
            <a:ext cx="431532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30" strike="noStrike" u="none">
                <a:solidFill>
                  <a:srgbClr val="0284c7"/>
                </a:solidFill>
                <a:uFillTx/>
                <a:latin typeface="Poppins SemiBold"/>
              </a:rPr>
              <a:t>Dynamically Typed</a:t>
            </a:r>
            <a:endParaRPr b="0" lang="en-US" sz="143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0" name="Group 30"/>
          <p:cNvGrpSpPr/>
          <p:nvPr/>
        </p:nvGrpSpPr>
        <p:grpSpPr>
          <a:xfrm>
            <a:off x="762120" y="2409840"/>
            <a:ext cx="10429560" cy="3876480"/>
            <a:chOff x="762120" y="2409840"/>
            <a:chExt cx="10429560" cy="3876480"/>
          </a:xfrm>
        </p:grpSpPr>
        <p:pic>
          <p:nvPicPr>
            <p:cNvPr id="41" name="Picture 1" descr="image.png"/>
            <p:cNvPicPr/>
            <p:nvPr/>
          </p:nvPicPr>
          <p:blipFill>
            <a:blip r:embed="rId4"/>
            <a:stretch/>
          </p:blipFill>
          <p:spPr>
            <a:xfrm>
              <a:off x="762120" y="2409840"/>
              <a:ext cx="5214600" cy="1133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Picture 3" descr="image.png"/>
            <p:cNvPicPr/>
            <p:nvPr/>
          </p:nvPicPr>
          <p:blipFill>
            <a:blip r:embed="rId5"/>
            <a:stretch/>
          </p:blipFill>
          <p:spPr>
            <a:xfrm>
              <a:off x="762120" y="3781440"/>
              <a:ext cx="5214600" cy="1133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Picture 5" descr="image.png"/>
            <p:cNvPicPr/>
            <p:nvPr/>
          </p:nvPicPr>
          <p:blipFill>
            <a:blip r:embed="rId6"/>
            <a:stretch/>
          </p:blipFill>
          <p:spPr>
            <a:xfrm>
              <a:off x="2895480" y="5153040"/>
              <a:ext cx="6400440" cy="1133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" name="Picture 7" descr="image.png"/>
            <p:cNvPicPr/>
            <p:nvPr/>
          </p:nvPicPr>
          <p:blipFill>
            <a:blip r:embed="rId7"/>
            <a:stretch/>
          </p:blipFill>
          <p:spPr>
            <a:xfrm>
              <a:off x="1000080" y="261000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5" name="Picture 8" descr="image.png"/>
            <p:cNvPicPr/>
            <p:nvPr/>
          </p:nvPicPr>
          <p:blipFill>
            <a:blip r:embed="rId8"/>
            <a:stretch/>
          </p:blipFill>
          <p:spPr>
            <a:xfrm>
              <a:off x="6453360" y="261000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" name="Picture 9" descr="image.png"/>
            <p:cNvPicPr/>
            <p:nvPr/>
          </p:nvPicPr>
          <p:blipFill>
            <a:blip r:embed="rId9"/>
            <a:stretch/>
          </p:blipFill>
          <p:spPr>
            <a:xfrm>
              <a:off x="1000080" y="398160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" name="Picture 10" descr="image.png"/>
            <p:cNvPicPr/>
            <p:nvPr/>
          </p:nvPicPr>
          <p:blipFill>
            <a:blip r:embed="rId10"/>
            <a:stretch/>
          </p:blipFill>
          <p:spPr>
            <a:xfrm>
              <a:off x="6453360" y="398160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" name="Picture 11" descr="image.png"/>
            <p:cNvPicPr/>
            <p:nvPr/>
          </p:nvPicPr>
          <p:blipFill>
            <a:blip r:embed="rId11"/>
            <a:stretch/>
          </p:blipFill>
          <p:spPr>
            <a:xfrm>
              <a:off x="3133800" y="535320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" name="Picture 12" descr="image.png"/>
            <p:cNvPicPr/>
            <p:nvPr/>
          </p:nvPicPr>
          <p:blipFill>
            <a:blip r:embed="rId12"/>
            <a:stretch/>
          </p:blipFill>
          <p:spPr>
            <a:xfrm>
              <a:off x="1143000" y="2743200"/>
              <a:ext cx="151920" cy="171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" name="TextBox 13"/>
            <p:cNvSpPr/>
            <p:nvPr/>
          </p:nvSpPr>
          <p:spPr>
            <a:xfrm>
              <a:off x="1628640" y="2610000"/>
              <a:ext cx="4315320" cy="2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30" strike="noStrike" u="none">
                  <a:solidFill>
                    <a:srgbClr val="0284c7"/>
                  </a:solidFill>
                  <a:uFillTx/>
                  <a:latin typeface="Poppins SemiBold"/>
                </a:rPr>
                <a:t>Readable &amp; Maintainable</a:t>
              </a:r>
              <a:endParaRPr b="0" lang="en-US" sz="14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1" name="TextBox 14"/>
            <p:cNvSpPr/>
            <p:nvPr/>
          </p:nvSpPr>
          <p:spPr>
            <a:xfrm>
              <a:off x="1628640" y="2943360"/>
              <a:ext cx="410976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334155"/>
                  </a:solidFill>
                  <a:uFillTx/>
                  <a:latin typeface="Lato"/>
                </a:rPr>
                <a:t>Clean syntax modeled closely on English structures significantly reduces code maintenance costs.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52" name="Picture 15" descr="image.png"/>
            <p:cNvPicPr/>
            <p:nvPr/>
          </p:nvPicPr>
          <p:blipFill>
            <a:blip r:embed="rId13"/>
            <a:stretch/>
          </p:blipFill>
          <p:spPr>
            <a:xfrm>
              <a:off x="6586560" y="2743200"/>
              <a:ext cx="171000" cy="171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3" name="TextBox 17"/>
            <p:cNvSpPr/>
            <p:nvPr/>
          </p:nvSpPr>
          <p:spPr>
            <a:xfrm>
              <a:off x="7081920" y="2943360"/>
              <a:ext cx="410976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334155"/>
                  </a:solidFill>
                  <a:uFillTx/>
                  <a:latin typeface="Lato"/>
                </a:rPr>
                <a:t>"Batteries included" approach provides built-in tools for regular expressions, file I/O, and networking.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54" name="Picture 18" descr="image.png"/>
            <p:cNvPicPr/>
            <p:nvPr/>
          </p:nvPicPr>
          <p:blipFill>
            <a:blip r:embed="rId14"/>
            <a:stretch/>
          </p:blipFill>
          <p:spPr>
            <a:xfrm>
              <a:off x="1109520" y="4114800"/>
              <a:ext cx="218880" cy="171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TextBox 19"/>
            <p:cNvSpPr/>
            <p:nvPr/>
          </p:nvSpPr>
          <p:spPr>
            <a:xfrm>
              <a:off x="1628640" y="3981600"/>
              <a:ext cx="4315320" cy="2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30" strike="noStrike" u="none">
                  <a:solidFill>
                    <a:srgbClr val="0284c7"/>
                  </a:solidFill>
                  <a:uFillTx/>
                  <a:latin typeface="Poppins SemiBold"/>
                </a:rPr>
                <a:t>Cross-Platform Portability</a:t>
              </a:r>
              <a:endParaRPr b="0" lang="en-US" sz="14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6" name="TextBox 20"/>
            <p:cNvSpPr/>
            <p:nvPr/>
          </p:nvSpPr>
          <p:spPr>
            <a:xfrm>
              <a:off x="1628640" y="4314960"/>
              <a:ext cx="410976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334155"/>
                  </a:solidFill>
                  <a:uFillTx/>
                  <a:latin typeface="Lato"/>
                </a:rPr>
                <a:t>Runs seamlessly across major modern platforms (macOS, Windows, Linux) without code modifications.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57" name="Picture 21" descr="image.png"/>
            <p:cNvPicPr/>
            <p:nvPr/>
          </p:nvPicPr>
          <p:blipFill>
            <a:blip r:embed="rId15"/>
            <a:stretch/>
          </p:blipFill>
          <p:spPr>
            <a:xfrm>
              <a:off x="6595920" y="4114800"/>
              <a:ext cx="151920" cy="171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8" name="TextBox 23"/>
            <p:cNvSpPr/>
            <p:nvPr/>
          </p:nvSpPr>
          <p:spPr>
            <a:xfrm>
              <a:off x="7081920" y="4314960"/>
              <a:ext cx="410976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334155"/>
                  </a:solidFill>
                  <a:uFillTx/>
                  <a:latin typeface="Lato"/>
                </a:rPr>
                <a:t>Omits rigid syntax obstacles and data-type initial declarations, vastly speeding up structural changes.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59" name="Picture 24" descr="image.png"/>
            <p:cNvPicPr/>
            <p:nvPr/>
          </p:nvPicPr>
          <p:blipFill>
            <a:blip r:embed="rId16"/>
            <a:stretch/>
          </p:blipFill>
          <p:spPr>
            <a:xfrm>
              <a:off x="3243240" y="5486400"/>
              <a:ext cx="218880" cy="171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0" name="TextBox 25"/>
            <p:cNvSpPr/>
            <p:nvPr/>
          </p:nvSpPr>
          <p:spPr>
            <a:xfrm>
              <a:off x="3762360" y="5353200"/>
              <a:ext cx="5560200" cy="21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30" strike="noStrike" u="none">
                  <a:solidFill>
                    <a:srgbClr val="0284c7"/>
                  </a:solidFill>
                  <a:uFillTx/>
                  <a:latin typeface="Poppins SemiBold"/>
                </a:rPr>
                <a:t>Massive Global Community</a:t>
              </a:r>
              <a:endParaRPr b="0" lang="en-US" sz="14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1" name="TextBox 26"/>
            <p:cNvSpPr/>
            <p:nvPr/>
          </p:nvSpPr>
          <p:spPr>
            <a:xfrm>
              <a:off x="3762360" y="5686560"/>
              <a:ext cx="529560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334155"/>
                  </a:solidFill>
                  <a:uFillTx/>
                  <a:latin typeface="Lato"/>
                </a:rPr>
                <a:t>Features an exceptional ecosystem of libraries, tutorials, and deep engineering collaboration forums.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62" name="TextBox 28"/>
          <p:cNvSpPr/>
          <p:nvPr/>
        </p:nvSpPr>
        <p:spPr>
          <a:xfrm>
            <a:off x="1000080" y="145728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Key Features &amp; Advantages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Rectangle 29"/>
          <p:cNvSpPr/>
          <p:nvPr/>
        </p:nvSpPr>
        <p:spPr>
          <a:xfrm>
            <a:off x="762120" y="144684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3" descr="image.png"/>
          <p:cNvPicPr/>
          <p:nvPr/>
        </p:nvPicPr>
        <p:blipFill>
          <a:blip r:embed="rId1"/>
          <a:stretch/>
        </p:blipFill>
        <p:spPr>
          <a:xfrm>
            <a:off x="762120" y="1629360"/>
            <a:ext cx="10667520" cy="1269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" name="Group 25"/>
          <p:cNvGrpSpPr/>
          <p:nvPr/>
        </p:nvGrpSpPr>
        <p:grpSpPr>
          <a:xfrm>
            <a:off x="847800" y="2325600"/>
            <a:ext cx="10667520" cy="2703600"/>
            <a:chOff x="847800" y="2325600"/>
            <a:chExt cx="10667520" cy="2703600"/>
          </a:xfrm>
        </p:grpSpPr>
        <p:pic>
          <p:nvPicPr>
            <p:cNvPr id="66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47800" y="2325600"/>
              <a:ext cx="5190840" cy="270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6324480" y="2325600"/>
              <a:ext cx="5190840" cy="2703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8" name="TextBox 4"/>
            <p:cNvSpPr/>
            <p:nvPr/>
          </p:nvSpPr>
          <p:spPr>
            <a:xfrm>
              <a:off x="1495440" y="2651760"/>
              <a:ext cx="446004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Understanding Modules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9" name="TextBox 5"/>
            <p:cNvSpPr/>
            <p:nvPr/>
          </p:nvSpPr>
          <p:spPr>
            <a:xfrm>
              <a:off x="1143000" y="3087720"/>
              <a:ext cx="4600080" cy="68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Modules allow you to organize Python code logically. Grouping related code into a file makes the codebase significantly easier to manage and reuse.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0" name="TextBox 6"/>
            <p:cNvSpPr/>
            <p:nvPr/>
          </p:nvSpPr>
          <p:spPr>
            <a:xfrm>
              <a:off x="6943680" y="2651760"/>
              <a:ext cx="449028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The PIP Package Manager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1" name="TextBox 7"/>
            <p:cNvSpPr/>
            <p:nvPr/>
          </p:nvSpPr>
          <p:spPr>
            <a:xfrm>
              <a:off x="6620040" y="3087720"/>
              <a:ext cx="4600080" cy="68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Pip is the standard package manager for Python. It connects you directly with the Python Package Index (PyPI), giving you instant access to third-party tools.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72" name="Picture 8" descr="image.png"/>
            <p:cNvPicPr/>
            <p:nvPr/>
          </p:nvPicPr>
          <p:blipFill>
            <a:blip r:embed="rId4"/>
            <a:stretch/>
          </p:blipFill>
          <p:spPr>
            <a:xfrm>
              <a:off x="1143000" y="2673360"/>
              <a:ext cx="23760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3" name="TextBox 9"/>
            <p:cNvSpPr/>
            <p:nvPr/>
          </p:nvSpPr>
          <p:spPr>
            <a:xfrm>
              <a:off x="1257480" y="38876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4" name="TextBox 10"/>
            <p:cNvSpPr/>
            <p:nvPr/>
          </p:nvSpPr>
          <p:spPr>
            <a:xfrm>
              <a:off x="1333440" y="3887640"/>
              <a:ext cx="4409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Standard Library Imports: import math, import sys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5" name="TextBox 11"/>
            <p:cNvSpPr/>
            <p:nvPr/>
          </p:nvSpPr>
          <p:spPr>
            <a:xfrm>
              <a:off x="1257480" y="418212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6" name="TextBox 12"/>
            <p:cNvSpPr/>
            <p:nvPr/>
          </p:nvSpPr>
          <p:spPr>
            <a:xfrm>
              <a:off x="1333440" y="4182120"/>
              <a:ext cx="440964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Encourages structured modular programming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7" name="TextBox 13"/>
            <p:cNvSpPr/>
            <p:nvPr/>
          </p:nvSpPr>
          <p:spPr>
            <a:xfrm>
              <a:off x="1257480" y="44582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8" name="TextBox 14"/>
            <p:cNvSpPr/>
            <p:nvPr/>
          </p:nvSpPr>
          <p:spPr>
            <a:xfrm>
              <a:off x="1333440" y="4458240"/>
              <a:ext cx="440964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Avoids naming conflicts across projects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79" name="Picture 15" descr="image.png"/>
            <p:cNvPicPr/>
            <p:nvPr/>
          </p:nvPicPr>
          <p:blipFill>
            <a:blip r:embed="rId5"/>
            <a:stretch/>
          </p:blipFill>
          <p:spPr>
            <a:xfrm>
              <a:off x="6620040" y="2673360"/>
              <a:ext cx="20916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" name="TextBox 16"/>
            <p:cNvSpPr/>
            <p:nvPr/>
          </p:nvSpPr>
          <p:spPr>
            <a:xfrm>
              <a:off x="6734160" y="38876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1" name="TextBox 17"/>
            <p:cNvSpPr/>
            <p:nvPr/>
          </p:nvSpPr>
          <p:spPr>
            <a:xfrm>
              <a:off x="6810480" y="3887640"/>
              <a:ext cx="4409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Simple installations: pip install package_name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2" name="TextBox 18"/>
            <p:cNvSpPr/>
            <p:nvPr/>
          </p:nvSpPr>
          <p:spPr>
            <a:xfrm>
              <a:off x="6734160" y="418212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3" name="TextBox 19"/>
            <p:cNvSpPr/>
            <p:nvPr/>
          </p:nvSpPr>
          <p:spPr>
            <a:xfrm>
              <a:off x="6810480" y="4182120"/>
              <a:ext cx="440964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Dependency tracking and version lock-ins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4" name="TextBox 20"/>
            <p:cNvSpPr/>
            <p:nvPr/>
          </p:nvSpPr>
          <p:spPr>
            <a:xfrm>
              <a:off x="6734160" y="44582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85" name="TextBox 21"/>
            <p:cNvSpPr/>
            <p:nvPr/>
          </p:nvSpPr>
          <p:spPr>
            <a:xfrm>
              <a:off x="6810480" y="4458240"/>
              <a:ext cx="440964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Simplifies environment replication on servers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86" name="TextBox 23"/>
          <p:cNvSpPr/>
          <p:nvPr/>
        </p:nvSpPr>
        <p:spPr>
          <a:xfrm>
            <a:off x="1057320" y="143028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Modules and Pip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Rectangle 24"/>
          <p:cNvSpPr/>
          <p:nvPr/>
        </p:nvSpPr>
        <p:spPr>
          <a:xfrm>
            <a:off x="790560" y="143028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image.png"/>
          <p:cNvPicPr/>
          <p:nvPr/>
        </p:nvPicPr>
        <p:blipFill>
          <a:blip r:embed="rId1"/>
          <a:stretch/>
        </p:blipFill>
        <p:spPr>
          <a:xfrm>
            <a:off x="800280" y="2275200"/>
            <a:ext cx="10667520" cy="27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2" descr="image.png"/>
          <p:cNvPicPr/>
          <p:nvPr/>
        </p:nvPicPr>
        <p:blipFill>
          <a:blip r:embed="rId2"/>
          <a:stretch/>
        </p:blipFill>
        <p:spPr>
          <a:xfrm>
            <a:off x="762120" y="1482840"/>
            <a:ext cx="10667520" cy="13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ounded Rectangle 3"/>
          <p:cNvSpPr/>
          <p:nvPr/>
        </p:nvSpPr>
        <p:spPr>
          <a:xfrm>
            <a:off x="809640" y="2284920"/>
            <a:ext cx="10648440" cy="2733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graphicFrame>
        <p:nvGraphicFramePr>
          <p:cNvPr id="91" name="Table 4"/>
          <p:cNvGraphicFramePr/>
          <p:nvPr/>
        </p:nvGraphicFramePr>
        <p:xfrm>
          <a:off x="809640" y="2284920"/>
          <a:ext cx="10648440" cy="273348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928880"/>
                <a:gridCol w="2267640"/>
                <a:gridCol w="6451920"/>
              </a:tblGrid>
              <a:tr h="45540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Poppins SemiBold"/>
                        </a:rPr>
                        <a:t>Data Type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Poppins SemiBold"/>
                        </a:rPr>
                        <a:t>Syntax/Example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Poppins SemiBold"/>
                        </a:rPr>
                        <a:t>Description &amp; Key Usage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5540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Integer (int)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x = 42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Represents whole numbers without any fractional component.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5540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Float (float)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pi = 3.14159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Represents real numbers containing fractional elements (decimals).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540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String (str)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msg = "Python"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Represents text: an immutable sequence of characters enclosed in quotes.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5540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Boolean (bool)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is_valid = True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Represents truth states: restricted to either True or False.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540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NoneType (None)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result = None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50" strike="noStrike" u="none">
                          <a:solidFill>
                            <a:srgbClr val="334155"/>
                          </a:solidFill>
                          <a:uFillTx/>
                          <a:latin typeface="Lato"/>
                        </a:rPr>
                        <a:t>A special constant representing the absence of a value or a null state.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Rectangle 5"/>
          <p:cNvSpPr/>
          <p:nvPr/>
        </p:nvSpPr>
        <p:spPr>
          <a:xfrm>
            <a:off x="809640" y="3223080"/>
            <a:ext cx="19285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Rectangle 6"/>
          <p:cNvSpPr/>
          <p:nvPr/>
        </p:nvSpPr>
        <p:spPr>
          <a:xfrm>
            <a:off x="2738520" y="3223080"/>
            <a:ext cx="226764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5006520" y="3223080"/>
            <a:ext cx="64519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809640" y="3670560"/>
            <a:ext cx="19285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6" name="Rectangle 9"/>
          <p:cNvSpPr/>
          <p:nvPr/>
        </p:nvSpPr>
        <p:spPr>
          <a:xfrm>
            <a:off x="2738520" y="3670560"/>
            <a:ext cx="226764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7" name="Rectangle 10"/>
          <p:cNvSpPr/>
          <p:nvPr/>
        </p:nvSpPr>
        <p:spPr>
          <a:xfrm>
            <a:off x="5006520" y="3670560"/>
            <a:ext cx="64519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8" name="Rectangle 11"/>
          <p:cNvSpPr/>
          <p:nvPr/>
        </p:nvSpPr>
        <p:spPr>
          <a:xfrm>
            <a:off x="809640" y="4118400"/>
            <a:ext cx="19285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9" name="Rectangle 12"/>
          <p:cNvSpPr/>
          <p:nvPr/>
        </p:nvSpPr>
        <p:spPr>
          <a:xfrm>
            <a:off x="2738520" y="4118400"/>
            <a:ext cx="226764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0" name="Rectangle 13"/>
          <p:cNvSpPr/>
          <p:nvPr/>
        </p:nvSpPr>
        <p:spPr>
          <a:xfrm>
            <a:off x="5006520" y="4118400"/>
            <a:ext cx="64519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1" name="Rectangle 14"/>
          <p:cNvSpPr/>
          <p:nvPr/>
        </p:nvSpPr>
        <p:spPr>
          <a:xfrm>
            <a:off x="809640" y="4565880"/>
            <a:ext cx="19285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2" name="Rectangle 15"/>
          <p:cNvSpPr/>
          <p:nvPr/>
        </p:nvSpPr>
        <p:spPr>
          <a:xfrm>
            <a:off x="2738520" y="4565880"/>
            <a:ext cx="226764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3" name="Rectangle 16"/>
          <p:cNvSpPr/>
          <p:nvPr/>
        </p:nvSpPr>
        <p:spPr>
          <a:xfrm>
            <a:off x="5006520" y="4565880"/>
            <a:ext cx="6451920" cy="900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952560" y="127260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Variables and Datatypes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733320" y="127260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3" descr="image.png"/>
          <p:cNvPicPr/>
          <p:nvPr/>
        </p:nvPicPr>
        <p:blipFill>
          <a:blip r:embed="rId1"/>
          <a:stretch/>
        </p:blipFill>
        <p:spPr>
          <a:xfrm>
            <a:off x="775800" y="1424880"/>
            <a:ext cx="10667520" cy="117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7" name="Group 22"/>
          <p:cNvGrpSpPr/>
          <p:nvPr/>
        </p:nvGrpSpPr>
        <p:grpSpPr>
          <a:xfrm>
            <a:off x="804240" y="2292480"/>
            <a:ext cx="10667880" cy="2871000"/>
            <a:chOff x="804240" y="2292480"/>
            <a:chExt cx="10667880" cy="2871000"/>
          </a:xfrm>
        </p:grpSpPr>
        <p:pic>
          <p:nvPicPr>
            <p:cNvPr id="108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04240" y="2292480"/>
              <a:ext cx="5190840" cy="287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9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6281280" y="2292480"/>
              <a:ext cx="5190840" cy="2871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0" name="TextBox 6"/>
            <p:cNvSpPr/>
            <p:nvPr/>
          </p:nvSpPr>
          <p:spPr>
            <a:xfrm>
              <a:off x="6928920" y="2618640"/>
              <a:ext cx="446004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The Input Function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11" name="TextBox 7"/>
            <p:cNvSpPr/>
            <p:nvPr/>
          </p:nvSpPr>
          <p:spPr>
            <a:xfrm>
              <a:off x="6576480" y="3054600"/>
              <a:ext cx="4600080" cy="45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The input() function is used to capture data directly from the user. It prompts the user for a value and waits for keyboard execution.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12" name="TextBox 15"/>
            <p:cNvSpPr/>
            <p:nvPr/>
          </p:nvSpPr>
          <p:spPr>
            <a:xfrm>
              <a:off x="6766920" y="364140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Standard Behavior: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It always evaluates and returns the input data strictly as a </a:t>
              </a: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String (str)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grpSp>
          <p:nvGrpSpPr>
            <p:cNvPr id="113" name="Group 21"/>
            <p:cNvGrpSpPr/>
            <p:nvPr/>
          </p:nvGrpSpPr>
          <p:grpSpPr>
            <a:xfrm>
              <a:off x="1099800" y="2618640"/>
              <a:ext cx="5714280" cy="2138400"/>
              <a:chOff x="1099800" y="2618640"/>
              <a:chExt cx="5714280" cy="2138400"/>
            </a:xfrm>
          </p:grpSpPr>
          <p:sp>
            <p:nvSpPr>
              <p:cNvPr id="114" name="TextBox 4"/>
              <p:cNvSpPr/>
              <p:nvPr/>
            </p:nvSpPr>
            <p:spPr>
              <a:xfrm>
                <a:off x="1375920" y="2618640"/>
                <a:ext cx="4540320" cy="25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650" strike="noStrike" u="none">
                    <a:solidFill>
                      <a:srgbClr val="0f172a"/>
                    </a:solidFill>
                    <a:uFillTx/>
                    <a:latin typeface="Poppins SemiBold"/>
                  </a:rPr>
                  <a:t>Python Operators</a:t>
                </a:r>
                <a:endParaRPr b="0" lang="en-US" sz="16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5" name="TextBox 5"/>
              <p:cNvSpPr/>
              <p:nvPr/>
            </p:nvSpPr>
            <p:spPr>
              <a:xfrm>
                <a:off x="1099800" y="3054600"/>
                <a:ext cx="460008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ts val="1800"/>
                  </a:lnSpc>
                </a:pPr>
                <a:r>
                  <a:rPr b="0" lang="en-US" sz="1130" strike="noStrike" u="none">
                    <a:solidFill>
                      <a:srgbClr val="475569"/>
                    </a:solidFill>
                    <a:uFillTx/>
                    <a:latin typeface="Lato"/>
                  </a:rPr>
                  <a:t>Python supports a wide range of operators to perform mathematical computations and conditional evaluations easily.</a:t>
                </a:r>
                <a:endParaRPr b="0" lang="en-US" sz="113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pic>
            <p:nvPicPr>
              <p:cNvPr id="116" name="Picture 8" descr="image.png"/>
              <p:cNvPicPr/>
              <p:nvPr/>
            </p:nvPicPr>
            <p:blipFill>
              <a:blip r:embed="rId4"/>
              <a:stretch/>
            </p:blipFill>
            <p:spPr>
              <a:xfrm>
                <a:off x="1099800" y="2640240"/>
                <a:ext cx="161640" cy="209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17" name="TextBox 9"/>
              <p:cNvSpPr/>
              <p:nvPr/>
            </p:nvSpPr>
            <p:spPr>
              <a:xfrm>
                <a:off x="1213920" y="362592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8" name="TextBox 10"/>
              <p:cNvSpPr/>
              <p:nvPr/>
            </p:nvSpPr>
            <p:spPr>
              <a:xfrm>
                <a:off x="1290240" y="3625920"/>
                <a:ext cx="4409640" cy="400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1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Arithmetic Operators:</a:t>
                </a: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 Addition (+), Subtraction (-), Multiplication (*), Division (/), Floor Division (//), Modulus (%), and Exponentiation (**).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19" name="TextBox 11"/>
              <p:cNvSpPr/>
              <p:nvPr/>
            </p:nvSpPr>
            <p:spPr>
              <a:xfrm>
                <a:off x="1213920" y="435636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0" name="TextBox 12"/>
              <p:cNvSpPr/>
              <p:nvPr/>
            </p:nvSpPr>
            <p:spPr>
              <a:xfrm>
                <a:off x="1290240" y="4356360"/>
                <a:ext cx="4409640" cy="400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1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Logical Operators:</a:t>
                </a: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 Logical AND (and), Logical OR (or), and Logical NOT (not).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pic>
            <p:nvPicPr>
              <p:cNvPr id="121" name="Picture 13" descr="image.png"/>
              <p:cNvPicPr/>
              <p:nvPr/>
            </p:nvPicPr>
            <p:blipFill>
              <a:blip r:embed="rId5"/>
              <a:stretch/>
            </p:blipFill>
            <p:spPr>
              <a:xfrm>
                <a:off x="6576480" y="2640240"/>
                <a:ext cx="237600" cy="209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22" name="TextBox 14"/>
              <p:cNvSpPr/>
              <p:nvPr/>
            </p:nvSpPr>
            <p:spPr>
              <a:xfrm>
                <a:off x="6690960" y="364140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23" name="TextBox 16"/>
              <p:cNvSpPr/>
              <p:nvPr/>
            </p:nvSpPr>
            <p:spPr>
              <a:xfrm>
                <a:off x="6690960" y="411732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sp>
          <p:nvSpPr>
            <p:cNvPr id="124" name="TextBox 17"/>
            <p:cNvSpPr/>
            <p:nvPr/>
          </p:nvSpPr>
          <p:spPr>
            <a:xfrm>
              <a:off x="6766920" y="411732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Type Casting: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Explicit conversion is necessary for math, e.g., age = int(input("Enter age: ")).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25" name="TextBox 19"/>
          <p:cNvSpPr/>
          <p:nvPr/>
        </p:nvSpPr>
        <p:spPr>
          <a:xfrm>
            <a:off x="952560" y="117900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Operators and User Input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Rectangle 20"/>
          <p:cNvSpPr/>
          <p:nvPr/>
        </p:nvSpPr>
        <p:spPr>
          <a:xfrm>
            <a:off x="747360" y="115488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3" descr="image.png"/>
          <p:cNvPicPr/>
          <p:nvPr/>
        </p:nvPicPr>
        <p:blipFill>
          <a:blip r:embed="rId1"/>
          <a:stretch/>
        </p:blipFill>
        <p:spPr>
          <a:xfrm>
            <a:off x="762120" y="1579320"/>
            <a:ext cx="10667520" cy="1511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8" name="Group 24"/>
          <p:cNvGrpSpPr/>
          <p:nvPr/>
        </p:nvGrpSpPr>
        <p:grpSpPr>
          <a:xfrm>
            <a:off x="889200" y="2335320"/>
            <a:ext cx="10667880" cy="2511000"/>
            <a:chOff x="889200" y="2335320"/>
            <a:chExt cx="10667880" cy="2511000"/>
          </a:xfrm>
        </p:grpSpPr>
        <p:pic>
          <p:nvPicPr>
            <p:cNvPr id="129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89200" y="2335320"/>
              <a:ext cx="5190840" cy="251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0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6366240" y="2335320"/>
              <a:ext cx="5190840" cy="2511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1" name="Group 23"/>
            <p:cNvGrpSpPr/>
            <p:nvPr/>
          </p:nvGrpSpPr>
          <p:grpSpPr>
            <a:xfrm>
              <a:off x="1184400" y="2661480"/>
              <a:ext cx="10289520" cy="1796400"/>
              <a:chOff x="1184400" y="2661480"/>
              <a:chExt cx="10289520" cy="1796400"/>
            </a:xfrm>
          </p:grpSpPr>
          <p:sp>
            <p:nvSpPr>
              <p:cNvPr id="132" name="TextBox 4"/>
              <p:cNvSpPr/>
              <p:nvPr/>
            </p:nvSpPr>
            <p:spPr>
              <a:xfrm>
                <a:off x="1489320" y="2661480"/>
                <a:ext cx="4510080" cy="25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650" strike="noStrike" u="none">
                    <a:solidFill>
                      <a:srgbClr val="0f172a"/>
                    </a:solidFill>
                    <a:uFillTx/>
                    <a:latin typeface="Poppins SemiBold"/>
                  </a:rPr>
                  <a:t>Defining Strings</a:t>
                </a:r>
                <a:endParaRPr b="0" lang="en-US" sz="16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3" name="TextBox 5"/>
              <p:cNvSpPr/>
              <p:nvPr/>
            </p:nvSpPr>
            <p:spPr>
              <a:xfrm>
                <a:off x="1184400" y="3097440"/>
                <a:ext cx="460008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ts val="1800"/>
                  </a:lnSpc>
                </a:pPr>
                <a:r>
                  <a:rPr b="0" lang="en-US" sz="1130" strike="noStrike" u="none">
                    <a:solidFill>
                      <a:srgbClr val="475569"/>
                    </a:solidFill>
                    <a:uFillTx/>
                    <a:latin typeface="Lato"/>
                  </a:rPr>
                  <a:t>Strings are immutable sequences of characters. Python offers multiple quotes to create and format strings effectively.</a:t>
                </a:r>
                <a:endParaRPr b="0" lang="en-US" sz="113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4" name="TextBox 6"/>
              <p:cNvSpPr/>
              <p:nvPr/>
            </p:nvSpPr>
            <p:spPr>
              <a:xfrm>
                <a:off x="7013880" y="2661480"/>
                <a:ext cx="4460040" cy="25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650" strike="noStrike" u="none">
                    <a:solidFill>
                      <a:srgbClr val="0f172a"/>
                    </a:solidFill>
                    <a:uFillTx/>
                    <a:latin typeface="Poppins SemiBold"/>
                  </a:rPr>
                  <a:t>Built-in String Functions</a:t>
                </a:r>
                <a:endParaRPr b="0" lang="en-US" sz="16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5" name="TextBox 7"/>
              <p:cNvSpPr/>
              <p:nvPr/>
            </p:nvSpPr>
            <p:spPr>
              <a:xfrm>
                <a:off x="6661440" y="3097440"/>
                <a:ext cx="4600080" cy="456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ts val="1800"/>
                  </a:lnSpc>
                </a:pPr>
                <a:r>
                  <a:rPr b="0" lang="en-US" sz="1130" strike="noStrike" u="none">
                    <a:solidFill>
                      <a:srgbClr val="475569"/>
                    </a:solidFill>
                    <a:uFillTx/>
                    <a:latin typeface="Lato"/>
                  </a:rPr>
                  <a:t>Easily transform, search, and manage textual data with powerful built-in string methods:</a:t>
                </a:r>
                <a:endParaRPr b="0" lang="en-US" sz="113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pic>
            <p:nvPicPr>
              <p:cNvPr id="136" name="Picture 8" descr="image.png"/>
              <p:cNvPicPr/>
              <p:nvPr/>
            </p:nvPicPr>
            <p:blipFill>
              <a:blip r:embed="rId4"/>
              <a:stretch/>
            </p:blipFill>
            <p:spPr>
              <a:xfrm>
                <a:off x="1184400" y="2683080"/>
                <a:ext cx="190080" cy="209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37" name="TextBox 9"/>
              <p:cNvSpPr/>
              <p:nvPr/>
            </p:nvSpPr>
            <p:spPr>
              <a:xfrm>
                <a:off x="1298880" y="366876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8" name="TextBox 10"/>
              <p:cNvSpPr/>
              <p:nvPr/>
            </p:nvSpPr>
            <p:spPr>
              <a:xfrm>
                <a:off x="1374840" y="3668760"/>
                <a:ext cx="4409640" cy="20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1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Single/Double Quotes:</a:t>
                </a: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 Standard definition, e.g., 'hello' or "world".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39" name="TextBox 11"/>
              <p:cNvSpPr/>
              <p:nvPr/>
            </p:nvSpPr>
            <p:spPr>
              <a:xfrm>
                <a:off x="1298880" y="396288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0" name="TextBox 12"/>
              <p:cNvSpPr/>
              <p:nvPr/>
            </p:nvSpPr>
            <p:spPr>
              <a:xfrm>
                <a:off x="1374840" y="3962880"/>
                <a:ext cx="4409640" cy="400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1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Triple Quotes:</a:t>
                </a: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 Created with ''' or """, allowing strings to span multiple lines seamlessly and preserve whitespaces.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pic>
            <p:nvPicPr>
              <p:cNvPr id="141" name="Picture 13" descr="image.png"/>
              <p:cNvPicPr/>
              <p:nvPr/>
            </p:nvPicPr>
            <p:blipFill>
              <a:blip r:embed="rId5"/>
              <a:stretch/>
            </p:blipFill>
            <p:spPr>
              <a:xfrm>
                <a:off x="6661440" y="2683080"/>
                <a:ext cx="237600" cy="2091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42" name="TextBox 14"/>
              <p:cNvSpPr/>
              <p:nvPr/>
            </p:nvSpPr>
            <p:spPr>
              <a:xfrm>
                <a:off x="6775560" y="366876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3" name="TextBox 15"/>
              <p:cNvSpPr/>
              <p:nvPr/>
            </p:nvSpPr>
            <p:spPr>
              <a:xfrm>
                <a:off x="6851880" y="3668760"/>
                <a:ext cx="4409640" cy="20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len(), find(), and count() for indexing and analysis.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4" name="TextBox 16"/>
              <p:cNvSpPr/>
              <p:nvPr/>
            </p:nvSpPr>
            <p:spPr>
              <a:xfrm>
                <a:off x="6775560" y="396288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5" name="TextBox 17"/>
              <p:cNvSpPr/>
              <p:nvPr/>
            </p:nvSpPr>
            <p:spPr>
              <a:xfrm>
                <a:off x="6851880" y="3962880"/>
                <a:ext cx="4409640" cy="20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replace() to substitute character sequences dynamically.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6" name="TextBox 18"/>
              <p:cNvSpPr/>
              <p:nvPr/>
            </p:nvSpPr>
            <p:spPr>
              <a:xfrm>
                <a:off x="6775560" y="4257360"/>
                <a:ext cx="75960" cy="16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•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47" name="TextBox 19"/>
              <p:cNvSpPr/>
              <p:nvPr/>
            </p:nvSpPr>
            <p:spPr>
              <a:xfrm>
                <a:off x="6851880" y="4257360"/>
                <a:ext cx="4409640" cy="20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6320" rIns="0" tIns="0" bIns="0" anchor="t">
                <a:spAutoFit/>
              </a:bodyPr>
              <a:p>
                <a:pPr defTabSz="457200">
                  <a:lnSpc>
                    <a:spcPts val="1576"/>
                  </a:lnSpc>
                </a:pPr>
                <a:r>
                  <a:rPr b="0" lang="en-US" sz="1050" strike="noStrike" u="none">
                    <a:solidFill>
                      <a:srgbClr val="475569"/>
                    </a:solidFill>
                    <a:uFillTx/>
                    <a:latin typeface="Lato"/>
                  </a:rPr>
                  <a:t>capitalize(), upper(), lower(), and title() for styling output.</a:t>
                </a:r>
                <a:endParaRPr b="0" lang="en-US" sz="105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48" name="TextBox 21"/>
          <p:cNvSpPr/>
          <p:nvPr/>
        </p:nvSpPr>
        <p:spPr>
          <a:xfrm>
            <a:off x="959400" y="127800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String Formatting &amp; Methods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Rectangle 22"/>
          <p:cNvSpPr/>
          <p:nvPr/>
        </p:nvSpPr>
        <p:spPr>
          <a:xfrm>
            <a:off x="831960" y="123732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3" descr="image.png"/>
          <p:cNvPicPr/>
          <p:nvPr/>
        </p:nvPicPr>
        <p:blipFill>
          <a:blip r:embed="rId1"/>
          <a:stretch/>
        </p:blipFill>
        <p:spPr>
          <a:xfrm>
            <a:off x="762120" y="1427760"/>
            <a:ext cx="10667520" cy="1027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1" name="Group 25"/>
          <p:cNvGrpSpPr/>
          <p:nvPr/>
        </p:nvGrpSpPr>
        <p:grpSpPr>
          <a:xfrm>
            <a:off x="819000" y="2001240"/>
            <a:ext cx="10667880" cy="3147120"/>
            <a:chOff x="819000" y="2001240"/>
            <a:chExt cx="10667880" cy="3147120"/>
          </a:xfrm>
        </p:grpSpPr>
        <p:pic>
          <p:nvPicPr>
            <p:cNvPr id="152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19000" y="2001240"/>
              <a:ext cx="5190840" cy="3147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6296040" y="2001240"/>
              <a:ext cx="5190840" cy="314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4" name="TextBox 4"/>
            <p:cNvSpPr/>
            <p:nvPr/>
          </p:nvSpPr>
          <p:spPr>
            <a:xfrm>
              <a:off x="1438200" y="2327400"/>
              <a:ext cx="449028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Lists (Mutable)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5" name="TextBox 5"/>
            <p:cNvSpPr/>
            <p:nvPr/>
          </p:nvSpPr>
          <p:spPr>
            <a:xfrm>
              <a:off x="1114560" y="276300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Dynamic ordered arrays that let you perform various modifications, extensions, and mathematical transformations.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6" name="TextBox 6"/>
            <p:cNvSpPr/>
            <p:nvPr/>
          </p:nvSpPr>
          <p:spPr>
            <a:xfrm>
              <a:off x="6886440" y="2327400"/>
              <a:ext cx="452016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Tuples (Immutable)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7" name="TextBox 7"/>
            <p:cNvSpPr/>
            <p:nvPr/>
          </p:nvSpPr>
          <p:spPr>
            <a:xfrm>
              <a:off x="6591240" y="276300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Ordered, unchangeable structures meant to safeguard read-only datasets and structured parameters.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58" name="Picture 8" descr="image.png"/>
            <p:cNvPicPr/>
            <p:nvPr/>
          </p:nvPicPr>
          <p:blipFill>
            <a:blip r:embed="rId4"/>
            <a:stretch/>
          </p:blipFill>
          <p:spPr>
            <a:xfrm>
              <a:off x="1114560" y="2348640"/>
              <a:ext cx="20916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9" name="TextBox 9"/>
            <p:cNvSpPr/>
            <p:nvPr/>
          </p:nvSpPr>
          <p:spPr>
            <a:xfrm>
              <a:off x="1228680" y="333468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0" name="TextBox 10"/>
            <p:cNvSpPr/>
            <p:nvPr/>
          </p:nvSpPr>
          <p:spPr>
            <a:xfrm>
              <a:off x="1305000" y="333468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Core Methods: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Append values using .append() and discard elements with .remove().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1" name="TextBox 11"/>
            <p:cNvSpPr/>
            <p:nvPr/>
          </p:nvSpPr>
          <p:spPr>
            <a:xfrm>
              <a:off x="1228680" y="384696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2" name="TextBox 12"/>
            <p:cNvSpPr/>
            <p:nvPr/>
          </p:nvSpPr>
          <p:spPr>
            <a:xfrm>
              <a:off x="1305000" y="384696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Operators: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Combine lists with + (concatenation) or duplicate structures using * (repetition).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3" name="TextBox 13"/>
            <p:cNvSpPr/>
            <p:nvPr/>
          </p:nvSpPr>
          <p:spPr>
            <a:xfrm>
              <a:off x="1228680" y="43592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4" name="TextBox 14"/>
            <p:cNvSpPr/>
            <p:nvPr/>
          </p:nvSpPr>
          <p:spPr>
            <a:xfrm>
              <a:off x="1305000" y="435924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Inspection: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Find lengths easily using the globally applicable len() function.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65" name="Picture 15" descr="image.png"/>
            <p:cNvPicPr/>
            <p:nvPr/>
          </p:nvPicPr>
          <p:blipFill>
            <a:blip r:embed="rId5"/>
            <a:stretch/>
          </p:blipFill>
          <p:spPr>
            <a:xfrm>
              <a:off x="6591240" y="2348640"/>
              <a:ext cx="18072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6" name="TextBox 16"/>
            <p:cNvSpPr/>
            <p:nvPr/>
          </p:nvSpPr>
          <p:spPr>
            <a:xfrm>
              <a:off x="6705720" y="333468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7" name="TextBox 17"/>
            <p:cNvSpPr/>
            <p:nvPr/>
          </p:nvSpPr>
          <p:spPr>
            <a:xfrm>
              <a:off x="6781680" y="333468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Core Limitations: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Modifications like append or remove operations are prohibited on tuples.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8" name="TextBox 18"/>
            <p:cNvSpPr/>
            <p:nvPr/>
          </p:nvSpPr>
          <p:spPr>
            <a:xfrm>
              <a:off x="6705720" y="381096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9" name="TextBox 19"/>
            <p:cNvSpPr/>
            <p:nvPr/>
          </p:nvSpPr>
          <p:spPr>
            <a:xfrm>
              <a:off x="6781680" y="381096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Shared Operators: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Supports standard list operators including sequence addition (+) and repetition (*).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0" name="TextBox 20"/>
            <p:cNvSpPr/>
            <p:nvPr/>
          </p:nvSpPr>
          <p:spPr>
            <a:xfrm>
              <a:off x="6705720" y="430524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1" name="TextBox 21"/>
            <p:cNvSpPr/>
            <p:nvPr/>
          </p:nvSpPr>
          <p:spPr>
            <a:xfrm>
              <a:off x="6781680" y="430524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Shared Functions: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Safely inspect element amounts using len() and access positions via index brackets.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72" name="TextBox 23"/>
          <p:cNvSpPr/>
          <p:nvPr/>
        </p:nvSpPr>
        <p:spPr>
          <a:xfrm>
            <a:off x="1123920" y="109044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Lists and Tuples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Rectangle 24"/>
          <p:cNvSpPr/>
          <p:nvPr/>
        </p:nvSpPr>
        <p:spPr>
          <a:xfrm>
            <a:off x="762120" y="108576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3" descr="image.png"/>
          <p:cNvPicPr/>
          <p:nvPr/>
        </p:nvPicPr>
        <p:blipFill>
          <a:blip r:embed="rId1"/>
          <a:stretch/>
        </p:blipFill>
        <p:spPr>
          <a:xfrm>
            <a:off x="762120" y="1411920"/>
            <a:ext cx="10667520" cy="1260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5" name="Group 25"/>
          <p:cNvGrpSpPr/>
          <p:nvPr/>
        </p:nvGrpSpPr>
        <p:grpSpPr>
          <a:xfrm>
            <a:off x="849600" y="1964160"/>
            <a:ext cx="10667520" cy="2929320"/>
            <a:chOff x="849600" y="1964160"/>
            <a:chExt cx="10667520" cy="2929320"/>
          </a:xfrm>
        </p:grpSpPr>
        <p:pic>
          <p:nvPicPr>
            <p:cNvPr id="176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49600" y="1964160"/>
              <a:ext cx="5190840" cy="2929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7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6326280" y="1964160"/>
              <a:ext cx="5190840" cy="292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8" name="TextBox 4"/>
            <p:cNvSpPr/>
            <p:nvPr/>
          </p:nvSpPr>
          <p:spPr>
            <a:xfrm>
              <a:off x="1468800" y="2290320"/>
              <a:ext cx="449028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Set Operations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9" name="TextBox 5"/>
            <p:cNvSpPr/>
            <p:nvPr/>
          </p:nvSpPr>
          <p:spPr>
            <a:xfrm>
              <a:off x="1144800" y="272628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Unordered collections of completely unique elements. Solves set theory operations natively and prevents duplicates.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0" name="TextBox 6"/>
            <p:cNvSpPr/>
            <p:nvPr/>
          </p:nvSpPr>
          <p:spPr>
            <a:xfrm>
              <a:off x="6945480" y="2290320"/>
              <a:ext cx="449028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Dictionaries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1" name="TextBox 7"/>
            <p:cNvSpPr/>
            <p:nvPr/>
          </p:nvSpPr>
          <p:spPr>
            <a:xfrm>
              <a:off x="6621840" y="272628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A high-speed collection of unique key-value bindings that acts as the backbone of modern web structured configurations.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82" name="Picture 8" descr="image.png"/>
            <p:cNvPicPr/>
            <p:nvPr/>
          </p:nvPicPr>
          <p:blipFill>
            <a:blip r:embed="rId4"/>
            <a:stretch/>
          </p:blipFill>
          <p:spPr>
            <a:xfrm>
              <a:off x="1144800" y="2311920"/>
              <a:ext cx="20916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3" name="TextBox 9"/>
            <p:cNvSpPr/>
            <p:nvPr/>
          </p:nvSpPr>
          <p:spPr>
            <a:xfrm>
              <a:off x="1259280" y="329760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4" name="TextBox 10"/>
            <p:cNvSpPr/>
            <p:nvPr/>
          </p:nvSpPr>
          <p:spPr>
            <a:xfrm>
              <a:off x="1335240" y="329760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Union: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s1.union(s2) or s1 | s2 combines all distinct elements across collections.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5" name="TextBox 11"/>
            <p:cNvSpPr/>
            <p:nvPr/>
          </p:nvSpPr>
          <p:spPr>
            <a:xfrm>
              <a:off x="1259280" y="379188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6" name="TextBox 12"/>
            <p:cNvSpPr/>
            <p:nvPr/>
          </p:nvSpPr>
          <p:spPr>
            <a:xfrm>
              <a:off x="1335240" y="3791880"/>
              <a:ext cx="4409640" cy="2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Intersection: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s1.intersection(s2) returns overlapping values.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7" name="TextBox 13"/>
            <p:cNvSpPr/>
            <p:nvPr/>
          </p:nvSpPr>
          <p:spPr>
            <a:xfrm>
              <a:off x="1259280" y="408636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88" name="TextBox 14"/>
            <p:cNvSpPr/>
            <p:nvPr/>
          </p:nvSpPr>
          <p:spPr>
            <a:xfrm>
              <a:off x="1335240" y="408636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Removal: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Remove exact target items with .remove(val) (raises an error if item is not found).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89" name="Picture 15" descr="image.png"/>
            <p:cNvPicPr/>
            <p:nvPr/>
          </p:nvPicPr>
          <p:blipFill>
            <a:blip r:embed="rId5"/>
            <a:stretch/>
          </p:blipFill>
          <p:spPr>
            <a:xfrm>
              <a:off x="6621840" y="2311920"/>
              <a:ext cx="20916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0" name="TextBox 16"/>
            <p:cNvSpPr/>
            <p:nvPr/>
          </p:nvSpPr>
          <p:spPr>
            <a:xfrm>
              <a:off x="6735960" y="329760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1" name="TextBox 17"/>
            <p:cNvSpPr/>
            <p:nvPr/>
          </p:nvSpPr>
          <p:spPr>
            <a:xfrm>
              <a:off x="6812280" y="3297600"/>
              <a:ext cx="440964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Key Features: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Fast indexed lookups.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2" name="TextBox 18"/>
            <p:cNvSpPr/>
            <p:nvPr/>
          </p:nvSpPr>
          <p:spPr>
            <a:xfrm>
              <a:off x="6735960" y="357408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3" name="TextBox 19"/>
            <p:cNvSpPr/>
            <p:nvPr/>
          </p:nvSpPr>
          <p:spPr>
            <a:xfrm>
              <a:off x="6812280" y="357408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Removal Methods: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Discard elements using the del keyword or pull them out via .pop() safely.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4" name="TextBox 20"/>
            <p:cNvSpPr/>
            <p:nvPr/>
          </p:nvSpPr>
          <p:spPr>
            <a:xfrm>
              <a:off x="6735960" y="408636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5" name="TextBox 21"/>
            <p:cNvSpPr/>
            <p:nvPr/>
          </p:nvSpPr>
          <p:spPr>
            <a:xfrm>
              <a:off x="6812280" y="408636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Attributes: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View structural elements via .keys(), .values(), and use .get() for fallback evaluations.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96" name="TextBox 23"/>
          <p:cNvSpPr/>
          <p:nvPr/>
        </p:nvSpPr>
        <p:spPr>
          <a:xfrm>
            <a:off x="952560" y="106056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Dictionaries and Sets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Rectangle 24"/>
          <p:cNvSpPr/>
          <p:nvPr/>
        </p:nvSpPr>
        <p:spPr>
          <a:xfrm>
            <a:off x="762120" y="101412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4" descr="image.png"/>
          <p:cNvPicPr/>
          <p:nvPr/>
        </p:nvPicPr>
        <p:blipFill>
          <a:blip r:embed="rId1"/>
          <a:stretch/>
        </p:blipFill>
        <p:spPr>
          <a:xfrm>
            <a:off x="762120" y="1916640"/>
            <a:ext cx="10667520" cy="1613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9" name="Group 20"/>
          <p:cNvGrpSpPr/>
          <p:nvPr/>
        </p:nvGrpSpPr>
        <p:grpSpPr>
          <a:xfrm>
            <a:off x="1438200" y="1818000"/>
            <a:ext cx="3403080" cy="2071440"/>
            <a:chOff x="1438200" y="1818000"/>
            <a:chExt cx="3403080" cy="2071440"/>
          </a:xfrm>
        </p:grpSpPr>
        <p:pic>
          <p:nvPicPr>
            <p:cNvPr id="200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1438200" y="1818000"/>
              <a:ext cx="3403080" cy="2071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1" name="Picture 5" descr="image.png"/>
            <p:cNvPicPr/>
            <p:nvPr/>
          </p:nvPicPr>
          <p:blipFill>
            <a:blip r:embed="rId3"/>
            <a:stretch/>
          </p:blipFill>
          <p:spPr>
            <a:xfrm>
              <a:off x="2873160" y="2055960"/>
              <a:ext cx="533160" cy="533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2" name="TextBox 6"/>
            <p:cNvSpPr/>
            <p:nvPr/>
          </p:nvSpPr>
          <p:spPr>
            <a:xfrm>
              <a:off x="2424600" y="2741760"/>
              <a:ext cx="142992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350" strike="noStrike" u="none">
                  <a:solidFill>
                    <a:srgbClr val="0284c7"/>
                  </a:solidFill>
                  <a:uFillTx/>
                  <a:latin typeface="Poppins SemiBold"/>
                </a:rPr>
                <a:t>The 'if' Keyword</a:t>
              </a:r>
              <a:endParaRPr b="0" lang="en-US" sz="13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3" name="TextBox 7"/>
            <p:cNvSpPr/>
            <p:nvPr/>
          </p:nvSpPr>
          <p:spPr>
            <a:xfrm>
              <a:off x="1638000" y="3094200"/>
              <a:ext cx="3003120" cy="55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ts val="1463"/>
                </a:lnSpc>
              </a:pPr>
              <a:r>
                <a:rPr b="0" lang="en-US" sz="980" strike="noStrike" u="none">
                  <a:solidFill>
                    <a:srgbClr val="334155"/>
                  </a:solidFill>
                  <a:uFillTx/>
                  <a:latin typeface="Lato"/>
                </a:rPr>
                <a:t>Evaluates the primary logical expression. If it resolves to True, the indented block of code runs immediately.</a:t>
              </a:r>
              <a:endParaRPr b="0" lang="en-US" sz="98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04" name="Picture 14" descr="image.png"/>
            <p:cNvPicPr/>
            <p:nvPr/>
          </p:nvPicPr>
          <p:blipFill>
            <a:blip r:embed="rId4"/>
            <a:stretch/>
          </p:blipFill>
          <p:spPr>
            <a:xfrm>
              <a:off x="3025440" y="2208240"/>
              <a:ext cx="228240" cy="228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5" name="Group 21"/>
          <p:cNvGrpSpPr/>
          <p:nvPr/>
        </p:nvGrpSpPr>
        <p:grpSpPr>
          <a:xfrm>
            <a:off x="6864480" y="1744200"/>
            <a:ext cx="3403080" cy="2071440"/>
            <a:chOff x="6864480" y="1744200"/>
            <a:chExt cx="3403080" cy="2071440"/>
          </a:xfrm>
        </p:grpSpPr>
        <p:pic>
          <p:nvPicPr>
            <p:cNvPr id="206" name="Picture 2" descr="image.png"/>
            <p:cNvPicPr/>
            <p:nvPr/>
          </p:nvPicPr>
          <p:blipFill>
            <a:blip r:embed="rId5"/>
            <a:stretch/>
          </p:blipFill>
          <p:spPr>
            <a:xfrm>
              <a:off x="6864480" y="1744200"/>
              <a:ext cx="3403080" cy="2071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7" name="Picture 8" descr="image.png"/>
            <p:cNvPicPr/>
            <p:nvPr/>
          </p:nvPicPr>
          <p:blipFill>
            <a:blip r:embed="rId6"/>
            <a:stretch/>
          </p:blipFill>
          <p:spPr>
            <a:xfrm>
              <a:off x="8299440" y="1982520"/>
              <a:ext cx="533160" cy="533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8" name="TextBox 9"/>
            <p:cNvSpPr/>
            <p:nvPr/>
          </p:nvSpPr>
          <p:spPr>
            <a:xfrm>
              <a:off x="7850880" y="2668320"/>
              <a:ext cx="142992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350" strike="noStrike" u="none">
                  <a:solidFill>
                    <a:srgbClr val="0284c7"/>
                  </a:solidFill>
                  <a:uFillTx/>
                  <a:latin typeface="Poppins SemiBold"/>
                </a:rPr>
                <a:t>The 'elif' Clause</a:t>
              </a:r>
              <a:endParaRPr b="0" lang="en-US" sz="13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9" name="TextBox 10"/>
            <p:cNvSpPr/>
            <p:nvPr/>
          </p:nvSpPr>
          <p:spPr>
            <a:xfrm>
              <a:off x="7064280" y="3020760"/>
              <a:ext cx="3003120" cy="55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ts val="1463"/>
                </a:lnSpc>
              </a:pPr>
              <a:r>
                <a:rPr b="0" lang="en-US" sz="980" strike="noStrike" u="none">
                  <a:solidFill>
                    <a:srgbClr val="334155"/>
                  </a:solidFill>
                  <a:uFillTx/>
                  <a:latin typeface="Lato"/>
                </a:rPr>
                <a:t>Short for "else if". Allows you to stringently check multiple supplementary test conditions sequentially if the primary checks fail.</a:t>
              </a:r>
              <a:endParaRPr b="0" lang="en-US" sz="98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0" name="Picture 15" descr="image.png"/>
            <p:cNvPicPr/>
            <p:nvPr/>
          </p:nvPicPr>
          <p:blipFill>
            <a:blip r:embed="rId7"/>
            <a:stretch/>
          </p:blipFill>
          <p:spPr>
            <a:xfrm>
              <a:off x="8466120" y="2134800"/>
              <a:ext cx="199800" cy="228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1" name="Group 22"/>
          <p:cNvGrpSpPr/>
          <p:nvPr/>
        </p:nvGrpSpPr>
        <p:grpSpPr>
          <a:xfrm>
            <a:off x="4309560" y="4134600"/>
            <a:ext cx="3403080" cy="2071440"/>
            <a:chOff x="4309560" y="4134600"/>
            <a:chExt cx="3403080" cy="2071440"/>
          </a:xfrm>
        </p:grpSpPr>
        <p:pic>
          <p:nvPicPr>
            <p:cNvPr id="212" name="Picture 3" descr="image.png"/>
            <p:cNvPicPr/>
            <p:nvPr/>
          </p:nvPicPr>
          <p:blipFill>
            <a:blip r:embed="rId8"/>
            <a:stretch/>
          </p:blipFill>
          <p:spPr>
            <a:xfrm>
              <a:off x="4309560" y="4134600"/>
              <a:ext cx="3403080" cy="2071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3" name="Picture 11" descr="image.png"/>
            <p:cNvPicPr/>
            <p:nvPr/>
          </p:nvPicPr>
          <p:blipFill>
            <a:blip r:embed="rId9"/>
            <a:stretch/>
          </p:blipFill>
          <p:spPr>
            <a:xfrm>
              <a:off x="5744880" y="4372560"/>
              <a:ext cx="533160" cy="533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4" name="TextBox 12"/>
            <p:cNvSpPr/>
            <p:nvPr/>
          </p:nvSpPr>
          <p:spPr>
            <a:xfrm>
              <a:off x="5181480" y="5058360"/>
              <a:ext cx="165996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350" strike="noStrike" u="none">
                  <a:solidFill>
                    <a:srgbClr val="0284c7"/>
                  </a:solidFill>
                  <a:uFillTx/>
                  <a:latin typeface="Poppins SemiBold"/>
                </a:rPr>
                <a:t>The 'else' Fallback</a:t>
              </a:r>
              <a:endParaRPr b="0" lang="en-US" sz="13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5" name="TextBox 13"/>
            <p:cNvSpPr/>
            <p:nvPr/>
          </p:nvSpPr>
          <p:spPr>
            <a:xfrm>
              <a:off x="4509720" y="5410800"/>
              <a:ext cx="3003120" cy="37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ts val="1463"/>
                </a:lnSpc>
              </a:pPr>
              <a:r>
                <a:rPr b="0" lang="en-US" sz="980" strike="noStrike" u="none">
                  <a:solidFill>
                    <a:srgbClr val="334155"/>
                  </a:solidFill>
                  <a:uFillTx/>
                  <a:latin typeface="Lato"/>
                </a:rPr>
                <a:t>Acts as the absolute final catch-all branch. Executes if none of the preceding conditions evaluate to true.</a:t>
              </a:r>
              <a:endParaRPr b="0" lang="en-US" sz="98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6" name="Picture 16" descr="image.png"/>
            <p:cNvPicPr/>
            <p:nvPr/>
          </p:nvPicPr>
          <p:blipFill>
            <a:blip r:embed="rId10"/>
            <a:stretch/>
          </p:blipFill>
          <p:spPr>
            <a:xfrm>
              <a:off x="5897160" y="4524840"/>
              <a:ext cx="228240" cy="228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7" name="TextBox 18"/>
          <p:cNvSpPr/>
          <p:nvPr/>
        </p:nvSpPr>
        <p:spPr>
          <a:xfrm>
            <a:off x="1080360" y="96156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Conditional Statements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Rectangle 19"/>
          <p:cNvSpPr/>
          <p:nvPr/>
        </p:nvSpPr>
        <p:spPr>
          <a:xfrm>
            <a:off x="762120" y="97776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3" descr="image.png"/>
          <p:cNvPicPr/>
          <p:nvPr/>
        </p:nvPicPr>
        <p:blipFill>
          <a:blip r:embed="rId1"/>
          <a:stretch/>
        </p:blipFill>
        <p:spPr>
          <a:xfrm>
            <a:off x="762120" y="1441080"/>
            <a:ext cx="10667520" cy="1303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0" name="Group 23"/>
          <p:cNvGrpSpPr/>
          <p:nvPr/>
        </p:nvGrpSpPr>
        <p:grpSpPr>
          <a:xfrm>
            <a:off x="839520" y="2050200"/>
            <a:ext cx="5190840" cy="2857320"/>
            <a:chOff x="839520" y="2050200"/>
            <a:chExt cx="5190840" cy="2857320"/>
          </a:xfrm>
        </p:grpSpPr>
        <p:pic>
          <p:nvPicPr>
            <p:cNvPr id="221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39520" y="2050200"/>
              <a:ext cx="5190840" cy="285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2" name="TextBox 4"/>
            <p:cNvSpPr/>
            <p:nvPr/>
          </p:nvSpPr>
          <p:spPr>
            <a:xfrm>
              <a:off x="1458720" y="2376720"/>
              <a:ext cx="449028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Core Iteration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3" name="TextBox 5"/>
            <p:cNvSpPr/>
            <p:nvPr/>
          </p:nvSpPr>
          <p:spPr>
            <a:xfrm>
              <a:off x="1135080" y="281232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Execute instruction sequences multiple times automatically without manual code duplication.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24" name="Picture 8" descr="image.png"/>
            <p:cNvPicPr/>
            <p:nvPr/>
          </p:nvPicPr>
          <p:blipFill>
            <a:blip r:embed="rId3"/>
            <a:stretch/>
          </p:blipFill>
          <p:spPr>
            <a:xfrm>
              <a:off x="1135080" y="2397960"/>
              <a:ext cx="20916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5" name="TextBox 9"/>
            <p:cNvSpPr/>
            <p:nvPr/>
          </p:nvSpPr>
          <p:spPr>
            <a:xfrm>
              <a:off x="1249200" y="338400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6" name="TextBox 10"/>
            <p:cNvSpPr/>
            <p:nvPr/>
          </p:nvSpPr>
          <p:spPr>
            <a:xfrm>
              <a:off x="1325520" y="338400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For Loops: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Definite iterations over a sequence or specified numeric bounds (commonly using range()).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7" name="TextBox 11"/>
            <p:cNvSpPr/>
            <p:nvPr/>
          </p:nvSpPr>
          <p:spPr>
            <a:xfrm>
              <a:off x="1249200" y="387828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8" name="TextBox 12"/>
            <p:cNvSpPr/>
            <p:nvPr/>
          </p:nvSpPr>
          <p:spPr>
            <a:xfrm>
              <a:off x="1325520" y="3878280"/>
              <a:ext cx="440964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While Loops: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Indefinite iterations that execute continuously as long as a target condition stays True.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29" name="Group 24"/>
          <p:cNvGrpSpPr/>
          <p:nvPr/>
        </p:nvGrpSpPr>
        <p:grpSpPr>
          <a:xfrm>
            <a:off x="6315120" y="2050200"/>
            <a:ext cx="5190840" cy="2857320"/>
            <a:chOff x="6315120" y="2050200"/>
            <a:chExt cx="5190840" cy="2857320"/>
          </a:xfrm>
        </p:grpSpPr>
        <p:pic>
          <p:nvPicPr>
            <p:cNvPr id="230" name="Picture 2" descr="image.png"/>
            <p:cNvPicPr/>
            <p:nvPr/>
          </p:nvPicPr>
          <p:blipFill>
            <a:blip r:embed="rId4"/>
            <a:stretch/>
          </p:blipFill>
          <p:spPr>
            <a:xfrm>
              <a:off x="6315120" y="2050200"/>
              <a:ext cx="5190840" cy="2857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1" name="TextBox 6"/>
            <p:cNvSpPr/>
            <p:nvPr/>
          </p:nvSpPr>
          <p:spPr>
            <a:xfrm>
              <a:off x="6858000" y="2376720"/>
              <a:ext cx="4570200" cy="25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650" strike="noStrike" u="none">
                  <a:solidFill>
                    <a:srgbClr val="0f172a"/>
                  </a:solidFill>
                  <a:uFillTx/>
                  <a:latin typeface="Poppins SemiBold"/>
                </a:rPr>
                <a:t>Loop Control Statements</a:t>
              </a:r>
              <a:endParaRPr b="0" lang="en-US" sz="16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2" name="TextBox 7"/>
            <p:cNvSpPr/>
            <p:nvPr/>
          </p:nvSpPr>
          <p:spPr>
            <a:xfrm>
              <a:off x="6610320" y="2812320"/>
              <a:ext cx="46000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ts val="1800"/>
                </a:lnSpc>
              </a:pPr>
              <a:r>
                <a:rPr b="0" lang="en-US" sz="1130" strike="noStrike" u="none">
                  <a:solidFill>
                    <a:srgbClr val="475569"/>
                  </a:solidFill>
                  <a:uFillTx/>
                  <a:latin typeface="Lato"/>
                </a:rPr>
                <a:t>Intervene in standard loop workflows dynamically with precise runtime keywords:</a:t>
              </a:r>
              <a:endParaRPr b="0" lang="en-US" sz="113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33" name="Picture 13" descr="image.png"/>
            <p:cNvPicPr/>
            <p:nvPr/>
          </p:nvPicPr>
          <p:blipFill>
            <a:blip r:embed="rId5"/>
            <a:stretch/>
          </p:blipFill>
          <p:spPr>
            <a:xfrm>
              <a:off x="6610320" y="2397960"/>
              <a:ext cx="132840" cy="20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4" name="TextBox 14"/>
            <p:cNvSpPr/>
            <p:nvPr/>
          </p:nvSpPr>
          <p:spPr>
            <a:xfrm>
              <a:off x="6724800" y="338400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5" name="TextBox 15"/>
            <p:cNvSpPr/>
            <p:nvPr/>
          </p:nvSpPr>
          <p:spPr>
            <a:xfrm>
              <a:off x="6800760" y="3384000"/>
              <a:ext cx="4409640" cy="1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break: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Exits the enclosing loop immediately.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6" name="TextBox 16"/>
            <p:cNvSpPr/>
            <p:nvPr/>
          </p:nvSpPr>
          <p:spPr>
            <a:xfrm>
              <a:off x="6724800" y="366012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7" name="TextBox 17"/>
            <p:cNvSpPr/>
            <p:nvPr/>
          </p:nvSpPr>
          <p:spPr>
            <a:xfrm>
              <a:off x="6800760" y="366012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continue: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Skips the remaining statement blocks in the current iteration, starting the next cycle.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8" name="TextBox 18"/>
            <p:cNvSpPr/>
            <p:nvPr/>
          </p:nvSpPr>
          <p:spPr>
            <a:xfrm>
              <a:off x="6724800" y="4136400"/>
              <a:ext cx="7596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•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9" name="TextBox 19"/>
            <p:cNvSpPr/>
            <p:nvPr/>
          </p:nvSpPr>
          <p:spPr>
            <a:xfrm>
              <a:off x="6800760" y="4136400"/>
              <a:ext cx="440964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6320" rIns="0" tIns="0" bIns="0" anchor="t">
              <a:spAutoFit/>
            </a:bodyPr>
            <a:p>
              <a:pPr defTabSz="457200">
                <a:lnSpc>
                  <a:spcPts val="1576"/>
                </a:lnSpc>
              </a:pPr>
              <a:r>
                <a:rPr b="1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pass:</a:t>
              </a:r>
              <a:r>
                <a:rPr b="0" lang="en-US" sz="1050" strike="noStrike" u="none">
                  <a:solidFill>
                    <a:srgbClr val="475569"/>
                  </a:solidFill>
                  <a:uFillTx/>
                  <a:latin typeface="Lato"/>
                </a:rPr>
                <a:t> Acts as a syntactical placeholder (null operation) where statement logic is required but not yet written.</a:t>
              </a:r>
              <a:endParaRPr b="0" lang="en-US" sz="105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40" name="TextBox 21"/>
          <p:cNvSpPr/>
          <p:nvPr/>
        </p:nvSpPr>
        <p:spPr>
          <a:xfrm>
            <a:off x="1006920" y="96552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Loops and Control Statements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Rectangle 22"/>
          <p:cNvSpPr/>
          <p:nvPr/>
        </p:nvSpPr>
        <p:spPr>
          <a:xfrm>
            <a:off x="733320" y="90000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5" descr="image.png"/>
          <p:cNvPicPr/>
          <p:nvPr/>
        </p:nvPicPr>
        <p:blipFill>
          <a:blip r:embed="rId1"/>
          <a:stretch/>
        </p:blipFill>
        <p:spPr>
          <a:xfrm>
            <a:off x="762120" y="1775160"/>
            <a:ext cx="10667520" cy="14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Box 6"/>
          <p:cNvSpPr/>
          <p:nvPr/>
        </p:nvSpPr>
        <p:spPr>
          <a:xfrm>
            <a:off x="1232640" y="1775160"/>
            <a:ext cx="904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1" lang="en-US" sz="1200" strike="noStrike" u="none">
                <a:solidFill>
                  <a:srgbClr val="475569"/>
                </a:solidFill>
                <a:uFillTx/>
                <a:latin typeface="Lato"/>
              </a:rPr>
              <a:t>What is a Library?</a:t>
            </a:r>
            <a:r>
              <a:rPr b="0" lang="en-US" sz="1200" strike="noStrike" u="none">
                <a:solidFill>
                  <a:srgbClr val="475569"/>
                </a:solidFill>
                <a:uFillTx/>
                <a:latin typeface="Lato"/>
              </a:rPr>
              <a:t> A pre-compiled collection of modular codes, methods, and functions that you can import directly into your project, vastly expanding Python's capabilities without rewriting algorithms.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4" name="Group 26"/>
          <p:cNvGrpSpPr/>
          <p:nvPr/>
        </p:nvGrpSpPr>
        <p:grpSpPr>
          <a:xfrm>
            <a:off x="819000" y="3092040"/>
            <a:ext cx="10667880" cy="1925640"/>
            <a:chOff x="819000" y="3092040"/>
            <a:chExt cx="10667880" cy="1925640"/>
          </a:xfrm>
        </p:grpSpPr>
        <p:pic>
          <p:nvPicPr>
            <p:cNvPr id="245" name="Picture 1" descr="image.png"/>
            <p:cNvPicPr/>
            <p:nvPr/>
          </p:nvPicPr>
          <p:blipFill>
            <a:blip r:embed="rId2"/>
            <a:stretch/>
          </p:blipFill>
          <p:spPr>
            <a:xfrm>
              <a:off x="819000" y="3092040"/>
              <a:ext cx="2552400" cy="192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6" name="Picture 2" descr="image.png"/>
            <p:cNvPicPr/>
            <p:nvPr/>
          </p:nvPicPr>
          <p:blipFill>
            <a:blip r:embed="rId3"/>
            <a:stretch/>
          </p:blipFill>
          <p:spPr>
            <a:xfrm>
              <a:off x="3524400" y="3092040"/>
              <a:ext cx="2552400" cy="192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7" name="Picture 3" descr="image.png"/>
            <p:cNvPicPr/>
            <p:nvPr/>
          </p:nvPicPr>
          <p:blipFill>
            <a:blip r:embed="rId4"/>
            <a:stretch/>
          </p:blipFill>
          <p:spPr>
            <a:xfrm>
              <a:off x="6229440" y="3092040"/>
              <a:ext cx="2552400" cy="192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8" name="Picture 4" descr="image.png"/>
            <p:cNvPicPr/>
            <p:nvPr/>
          </p:nvPicPr>
          <p:blipFill>
            <a:blip r:embed="rId5"/>
            <a:stretch/>
          </p:blipFill>
          <p:spPr>
            <a:xfrm>
              <a:off x="8934480" y="3092040"/>
              <a:ext cx="2552400" cy="192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9" name="Picture 7" descr="image.png"/>
            <p:cNvPicPr/>
            <p:nvPr/>
          </p:nvPicPr>
          <p:blipFill>
            <a:blip r:embed="rId6"/>
            <a:stretch/>
          </p:blipFill>
          <p:spPr>
            <a:xfrm>
              <a:off x="1866960" y="3292200"/>
              <a:ext cx="456840" cy="456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0" name="TextBox 8"/>
            <p:cNvSpPr/>
            <p:nvPr/>
          </p:nvSpPr>
          <p:spPr>
            <a:xfrm>
              <a:off x="1405440" y="3863520"/>
              <a:ext cx="13798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0284c7"/>
                  </a:solidFill>
                  <a:uFillTx/>
                  <a:latin typeface="Poppins SemiBold"/>
                </a:rPr>
                <a:t>Data &amp; Analytics</a:t>
              </a:r>
              <a:endParaRPr b="0" lang="en-US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1" name="TextBox 9"/>
            <p:cNvSpPr/>
            <p:nvPr/>
          </p:nvSpPr>
          <p:spPr>
            <a:xfrm>
              <a:off x="971640" y="4177800"/>
              <a:ext cx="2247480" cy="77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r>
                <a:rPr b="1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NumPy &amp; Pandas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algn="ctr" defTabSz="457200">
                <a:lnSpc>
                  <a:spcPts val="1261"/>
                </a:lnSpc>
              </a:pP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 </a:t>
              </a: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Powerful multi-dimensional array calculations, high-performance dataframes, and robust structured table handling.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52" name="Picture 10" descr="image.png"/>
            <p:cNvPicPr/>
            <p:nvPr/>
          </p:nvPicPr>
          <p:blipFill>
            <a:blip r:embed="rId7"/>
            <a:stretch/>
          </p:blipFill>
          <p:spPr>
            <a:xfrm>
              <a:off x="4572000" y="3292200"/>
              <a:ext cx="456840" cy="456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3" name="TextBox 11"/>
            <p:cNvSpPr/>
            <p:nvPr/>
          </p:nvSpPr>
          <p:spPr>
            <a:xfrm>
              <a:off x="4050360" y="3863520"/>
              <a:ext cx="14997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0284c7"/>
                  </a:solidFill>
                  <a:uFillTx/>
                  <a:latin typeface="Poppins SemiBold"/>
                </a:rPr>
                <a:t>Data Visualisation</a:t>
              </a:r>
              <a:endParaRPr b="0" lang="en-US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4" name="TextBox 12"/>
            <p:cNvSpPr/>
            <p:nvPr/>
          </p:nvSpPr>
          <p:spPr>
            <a:xfrm>
              <a:off x="3676680" y="4177800"/>
              <a:ext cx="2247480" cy="61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r>
                <a:rPr b="1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Matplotlib &amp; Seaborn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algn="ctr" defTabSz="457200">
                <a:lnSpc>
                  <a:spcPts val="1261"/>
                </a:lnSpc>
              </a:pP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 </a:t>
              </a: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Optimized graphing engines for engineering charts, statistics plots, and publication-ready visual displays.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55" name="Picture 13" descr="image.png"/>
            <p:cNvPicPr/>
            <p:nvPr/>
          </p:nvPicPr>
          <p:blipFill>
            <a:blip r:embed="rId8"/>
            <a:stretch/>
          </p:blipFill>
          <p:spPr>
            <a:xfrm>
              <a:off x="7277040" y="3292200"/>
              <a:ext cx="456840" cy="456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6" name="TextBox 14"/>
            <p:cNvSpPr/>
            <p:nvPr/>
          </p:nvSpPr>
          <p:spPr>
            <a:xfrm>
              <a:off x="6815520" y="3863520"/>
              <a:ext cx="137988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0284c7"/>
                  </a:solidFill>
                  <a:uFillTx/>
                  <a:latin typeface="Poppins SemiBold"/>
                </a:rPr>
                <a:t>Computer Vision</a:t>
              </a:r>
              <a:endParaRPr b="0" lang="en-US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7" name="TextBox 15"/>
            <p:cNvSpPr/>
            <p:nvPr/>
          </p:nvSpPr>
          <p:spPr>
            <a:xfrm>
              <a:off x="6381720" y="4177800"/>
              <a:ext cx="2247480" cy="77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r>
                <a:rPr b="1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OpenCV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algn="ctr" defTabSz="457200">
                <a:lnSpc>
                  <a:spcPts val="1261"/>
                </a:lnSpc>
              </a:pP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 </a:t>
              </a: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Premier real-time image and computational video processing used in face detection, robotics, and pattern recognition.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58" name="Picture 16" descr="image.png"/>
            <p:cNvPicPr/>
            <p:nvPr/>
          </p:nvPicPr>
          <p:blipFill>
            <a:blip r:embed="rId9"/>
            <a:stretch/>
          </p:blipFill>
          <p:spPr>
            <a:xfrm>
              <a:off x="9982080" y="3292200"/>
              <a:ext cx="456840" cy="456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9" name="TextBox 17"/>
            <p:cNvSpPr/>
            <p:nvPr/>
          </p:nvSpPr>
          <p:spPr>
            <a:xfrm>
              <a:off x="9310680" y="3863520"/>
              <a:ext cx="180000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0284c7"/>
                  </a:solidFill>
                  <a:uFillTx/>
                  <a:latin typeface="Poppins SemiBold"/>
                </a:rPr>
                <a:t>AI &amp; Machine Learning</a:t>
              </a:r>
              <a:endParaRPr b="0" lang="en-US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60" name="TextBox 18"/>
            <p:cNvSpPr/>
            <p:nvPr/>
          </p:nvSpPr>
          <p:spPr>
            <a:xfrm>
              <a:off x="9086760" y="4177800"/>
              <a:ext cx="2247480" cy="61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r>
                <a:rPr b="1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PyTorch, TensorFlow, Scikit-Learn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algn="ctr" defTabSz="457200">
                <a:lnSpc>
                  <a:spcPts val="1261"/>
                </a:lnSpc>
              </a:pP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 </a:t>
              </a:r>
              <a:r>
                <a:rPr b="0" lang="en-US" sz="900" strike="noStrike" u="none">
                  <a:solidFill>
                    <a:srgbClr val="334155"/>
                  </a:solidFill>
                  <a:uFillTx/>
                  <a:latin typeface="Lato"/>
                </a:rPr>
                <a:t>State-of-the-art framework setups for neural networks, deep learning, model training, and regression analysis.</a:t>
              </a:r>
              <a:endParaRPr b="0" lang="en-US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61" name="Picture 19" descr="image.png"/>
            <p:cNvPicPr/>
            <p:nvPr/>
          </p:nvPicPr>
          <p:blipFill>
            <a:blip r:embed="rId10"/>
            <a:stretch/>
          </p:blipFill>
          <p:spPr>
            <a:xfrm>
              <a:off x="2000160" y="3425400"/>
              <a:ext cx="190080" cy="190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2" name="Picture 20" descr="image.png"/>
            <p:cNvPicPr/>
            <p:nvPr/>
          </p:nvPicPr>
          <p:blipFill>
            <a:blip r:embed="rId11"/>
            <a:stretch/>
          </p:blipFill>
          <p:spPr>
            <a:xfrm>
              <a:off x="4705200" y="3425400"/>
              <a:ext cx="190080" cy="190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3" name="Picture 21" descr="image.png"/>
            <p:cNvPicPr/>
            <p:nvPr/>
          </p:nvPicPr>
          <p:blipFill>
            <a:blip r:embed="rId12"/>
            <a:stretch/>
          </p:blipFill>
          <p:spPr>
            <a:xfrm>
              <a:off x="7396200" y="3425400"/>
              <a:ext cx="218880" cy="190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4" name="Picture 22" descr="image.png"/>
            <p:cNvPicPr/>
            <p:nvPr/>
          </p:nvPicPr>
          <p:blipFill>
            <a:blip r:embed="rId13"/>
            <a:stretch/>
          </p:blipFill>
          <p:spPr>
            <a:xfrm>
              <a:off x="10091880" y="3425400"/>
              <a:ext cx="237600" cy="190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65" name="TextBox 24"/>
          <p:cNvSpPr/>
          <p:nvPr/>
        </p:nvSpPr>
        <p:spPr>
          <a:xfrm>
            <a:off x="1014840" y="1078200"/>
            <a:ext cx="1100088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3135"/>
              </a:lnSpc>
            </a:pPr>
            <a:r>
              <a:rPr b="0" lang="en-US" sz="2850" strike="noStrike" u="none">
                <a:solidFill>
                  <a:srgbClr val="0f172a"/>
                </a:solidFill>
                <a:uFillTx/>
                <a:latin typeface="Poppins SemiBold"/>
              </a:rPr>
              <a:t>Understanding Python Libraries</a:t>
            </a:r>
            <a:endParaRPr b="0" lang="en-US" sz="2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Rectangle 25"/>
          <p:cNvSpPr/>
          <p:nvPr/>
        </p:nvSpPr>
        <p:spPr>
          <a:xfrm>
            <a:off x="762120" y="1032840"/>
            <a:ext cx="56880" cy="39780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8440" rIns="2844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1" descr="image.png"/>
          <p:cNvPicPr/>
          <p:nvPr/>
        </p:nvPicPr>
        <p:blipFill>
          <a:blip r:embed="rId1"/>
          <a:stretch/>
        </p:blipFill>
        <p:spPr>
          <a:xfrm>
            <a:off x="535680" y="2813040"/>
            <a:ext cx="10667520" cy="1710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8" name="Group 6"/>
          <p:cNvGrpSpPr/>
          <p:nvPr/>
        </p:nvGrpSpPr>
        <p:grpSpPr>
          <a:xfrm>
            <a:off x="2826720" y="2547360"/>
            <a:ext cx="6400440" cy="1628640"/>
            <a:chOff x="2826720" y="2547360"/>
            <a:chExt cx="6400440" cy="1628640"/>
          </a:xfrm>
        </p:grpSpPr>
        <p:sp>
          <p:nvSpPr>
            <p:cNvPr id="269" name="TextBox 2"/>
            <p:cNvSpPr/>
            <p:nvPr/>
          </p:nvSpPr>
          <p:spPr>
            <a:xfrm>
              <a:off x="4262040" y="2547360"/>
              <a:ext cx="3530160" cy="73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4800" strike="noStrike" u="none">
                  <a:solidFill>
                    <a:srgbClr val="f1f5f9"/>
                  </a:solidFill>
                  <a:uFillTx/>
                  <a:latin typeface="Poppins"/>
                </a:rPr>
                <a:t>Thank You</a:t>
              </a:r>
              <a:endParaRPr b="0" lang="en-US" sz="4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70" name="TextBox 3"/>
            <p:cNvSpPr/>
            <p:nvPr/>
          </p:nvSpPr>
          <p:spPr>
            <a:xfrm>
              <a:off x="2826720" y="3604680"/>
              <a:ext cx="6400440" cy="57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ts val="2251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uFillTx/>
                  <a:latin typeface="Lato"/>
                </a:rPr>
                <a:t>Thank you for exploring Python's core syntax, loops, and visualization libraries.</a:t>
              </a:r>
              <a:endParaRPr b="0" lang="en-US" sz="15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LibreOfficeDev/24.8.7.2.0$Android_AARCH64 LibreOffice_project/</Application>
  <AppVersion>15.0000</AppVersion>
  <Words>1351</Words>
  <Paragraphs>161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Dhruv singh Bisht</cp:lastModifiedBy>
  <dcterms:modified xsi:type="dcterms:W3CDTF">2026-07-19T15:12:49Z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